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Thesis: Taiwan matters far beyond its size because it sits at the chokepoint of the electronics supply chain, and it is tied most closely to three partners. EUROPE: Dutch ASML is the sole maker of EUV lithography machines that TSMC needs; the EU is Taiwan's largest source of foreign direct investment, notably offshore wind (e.g. Orsted); ESMC, TSMC's joint venture with Bosch, Infineon and NXP, is building a fab in Dresden. JAPAN: Japanese firms supply critical materials (photoresists, silicon wafers, equipment); TSMC's JASM fab in Kumamoto is a joint venture with Sony and Denso; deep historical links since the 1895-1945 colonial period. US: the main market for ICT and chips; fabless clients (Apple, Nvidia, AMD, Qualcomm) design the chips TSMC makes; TSMC is investing in Arizona; US aid and market access drove growth in the 1950s-70s, and security ties shape the risk picture. ASEAN: Taiwanese firms operate factories in Vietnam, Thailand, Malaysia and Indonesia; migrant workers from Indonesia, Vietnam, the Philippines and Thailand fill labour gaps; the New Southbound Policy (2016) aims to deepen these ties and diversify away from China. Mention China/HK briefly. Trade exceeds 100% of GDP, so Taiwan is highly exposed. Figures approximate - verify the latest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 balanced: past and present. Past: US aid and open US market in the 1950s-70s; export processing zones (Kaohsiung 1966); later the PC/ICT boom. Costs: after the 1987 currency appreciation and lifting of capital controls, labour-intensive industry relocated to China and SE Asia, hollowing out parts of the domestic base. Today: the risk is concentration - one sector, geopolitical exposure, power and water demands of fabs, and demographic decline. Free trade also benefited Taiwan only because the state shaped it (selective protection, industrial policy) - not pure laissez-faire.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Walk the timeline. The pattern: each external shock pushed upgrading rather than collapse. 1970s oil shocks -&gt; Ten Major Construction projects and heavy industry. 1985-87 appreciation and liberalisation -&gt; relocation of low-margin work abroad, while the state doubled down on Hsinchu and ITRI. 1997: Taiwan weathered the Asian crisis thanks to low foreign debt and flexible small firms. 2000s: cross-strait production networks. 2010s-now: chips, AI, and reshoring to the US/Japan/Europe plus New Southbound diversification. Has it moved onto a new growth path? Largely yes - semiconductors and ICT - but the base is narrow, and domestic services/wages lag. Sector shares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Direct answer to Q3. Yes: Taiwan has moved from agriculture and cheap labour-intensive goods to high-tech chips and electronics; output per worker and incomes rose sharply; the shift survived several crises, so it is a structural change, not a one-off. But it is narrow: one sector carries the economy (exposed to a chip downturn or US-China conflict); a handful of big firms capture most of the gains while services and small firms lag (the dual economy); growth concentrates in the Hsinchu-Taipei-Taichung corridor; and other new industries such as biotech, green energy and AI services are still small compared with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Taiwan has no EU-style regional policy; instead a developmental state used spatial policy as industrial policy. Science parks combine land, infrastructure, tax incentives and links to universities and ITRI. Local Revitalization (2019, led by the National Development Council) responds to depopulation and ageing outside metropolitan areas. Impact: strong clusters (Hsinchu semiconductors, Taichung machinery, Tainan/Kaohsiung heavy industry and new green energy) but regional inequality persists. Check policy dates against your course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slide answers the six assessment questions in order (cards 1-6). 1) New paths: yes - and successful in chips. 2) Lead actor: the national government, through ITRI and science-park agencies; there is no EU-type body. 3) Spark: deliberate state creation of Hsinchu plus technology transfer (RCA licence in the 1970s) and spin-offs; TSMC founded 1987 with state-backed capital and Philips. 4) Mixed: inside-led (state) but dependent on outside demand, technology and returnee talent. 5) Endogenous: dense small-firm networks, cluster governance, local government and community initiatives - strongest in manufacturing clusters, weaker in peripheral regions. 6) Market forces operate at three scales. Verify specifics (dates, firm details) against your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Synthesis. No single factor explains Taiwan's outcomes: inherited institutions (land reform, small-firm capitalism, a capable state) set the base; social processes (education, networks, diaspora) supplied the capability; external support (US aid and markets, global demand) opened the door. Today the risks are over-concentration in one sector and regional imbalance, so the policy frontier is diversification and revitalising peripheral regions. End with the takeaway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Closing takeaway. STATE-GUIDED examples: Hsinchu Science Park (1980) was a government-built and subsidised site; ITRI (1973) developed chip technology and spun off UMC (1980) and TSMC (1987); at TSMC's founding the government's National Development Fund was the largest shareholder; export processing zones, tax incentives and the Ten Major Construction projects built the base. EXTERNALLY ENABLED examples: US aid 1951-65 and open access to the US market; technology transfer such as the RCA chip-technology licence in 1976 and Philips as TSMC's partner; returnee engineers from Silicon Valley; Japanese tools and materials; worldwide demand for computers, phones and chips. Locally rooted: family-run firms and clusters turned this into lasting growth. Next challenge: diversify beyond chips and spread growth beyond core cities. Check details (RCA licence details, TSMC shareholding) against your sources.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6E8F7"/>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B8560F"/>
                </a:solidFill>
              </a:rPr>
              <a:t>PART 1 · Q1 · TAIWAN IN THE GLOBAL ECONOMY</a:t>
            </a:r>
            <a:endParaRPr lang="en-US" sz="1200" dirty="0"/>
          </a:p>
        </p:txBody>
      </p:sp>
      <p:sp>
        <p:nvSpPr>
          <p:cNvPr id="3" name="Text 1"/>
          <p:cNvSpPr txBox="1"/>
          <p:nvPr/>
        </p:nvSpPr>
        <p:spPr>
          <a:xfrm>
            <a:off x="457200" y="548640"/>
            <a:ext cx="8229600" cy="822960"/>
          </a:xfrm>
          <a:prstGeom prst="rect">
            <a:avLst/>
          </a:prstGeom>
          <a:noFill/>
          <a:ln/>
        </p:spPr>
        <p:txBody>
          <a:bodyPr wrap="square" lIns="0" tIns="0" rIns="0" bIns="0" rtlCol="0" anchor="t"/>
          <a:lstStyle/>
          <a:p>
            <a:pPr indent="0" marL="0">
              <a:buNone/>
            </a:pPr>
            <a:r>
              <a:rPr lang="en-US" sz="2800" b="1" dirty="0">
                <a:solidFill>
                  <a:srgbClr val="1F4E79"/>
                </a:solidFill>
                <a:latin typeface="Cambria" pitchFamily="34" charset="0"/>
                <a:ea typeface="Cambria" pitchFamily="34" charset="-122"/>
                <a:cs typeface="Cambria" pitchFamily="34" charset="-120"/>
              </a:rPr>
              <a:t>Taiwan: A Small Island Wired into Europe, Japan, the US and ASEAN</a:t>
            </a:r>
            <a:endParaRPr lang="en-US" sz="2800" dirty="0"/>
          </a:p>
        </p:txBody>
      </p:sp>
      <p:sp>
        <p:nvSpPr>
          <p:cNvPr id="4" name="StatCard0"/>
          <p:cNvSpPr/>
          <p:nvPr/>
        </p:nvSpPr>
        <p:spPr>
          <a:xfrm>
            <a:off x="457200" y="1463040"/>
            <a:ext cx="2606040" cy="685800"/>
          </a:xfrm>
          <a:prstGeom prst="roundRect">
            <a:avLst>
              <a:gd name="adj" fmla="val 10667"/>
            </a:avLst>
          </a:prstGeom>
          <a:solidFill>
            <a:srgbClr val="FFFFFF"/>
          </a:solidFill>
          <a:ln/>
          <a:effectLst>
            <a:outerShdw sx="100000" sy="100000" kx="0" ky="0" algn="bl" rotWithShape="0" blurRad="76200" dist="25400" dir="5400000">
              <a:srgbClr val="000000">
                <a:alpha val="12000"/>
              </a:srgbClr>
            </a:outerShdw>
          </a:effectLst>
        </p:spPr>
      </p:sp>
      <p:sp>
        <p:nvSpPr>
          <p:cNvPr id="5" name="Text 3"/>
          <p:cNvSpPr txBox="1"/>
          <p:nvPr/>
        </p:nvSpPr>
        <p:spPr>
          <a:xfrm>
            <a:off x="594360" y="1463040"/>
            <a:ext cx="914400" cy="685800"/>
          </a:xfrm>
          <a:prstGeom prst="rect">
            <a:avLst/>
          </a:prstGeom>
          <a:noFill/>
          <a:ln/>
        </p:spPr>
        <p:txBody>
          <a:bodyPr wrap="square" lIns="0" tIns="0" rIns="0" bIns="0" rtlCol="0" anchor="ctr"/>
          <a:lstStyle/>
          <a:p>
            <a:pPr indent="0" marL="0">
              <a:buNone/>
            </a:pPr>
            <a:r>
              <a:rPr lang="en-US" sz="2200" b="1" dirty="0">
                <a:solidFill>
                  <a:srgbClr val="D9701F"/>
                </a:solidFill>
                <a:latin typeface="Cambria" pitchFamily="34" charset="0"/>
                <a:ea typeface="Cambria" pitchFamily="34" charset="-122"/>
                <a:cs typeface="Cambria" pitchFamily="34" charset="-120"/>
              </a:rPr>
              <a:t>&gt;60%</a:t>
            </a:r>
            <a:endParaRPr lang="en-US" sz="2200" dirty="0"/>
          </a:p>
        </p:txBody>
      </p:sp>
      <p:sp>
        <p:nvSpPr>
          <p:cNvPr id="6" name="Text 4"/>
          <p:cNvSpPr txBox="1"/>
          <p:nvPr/>
        </p:nvSpPr>
        <p:spPr>
          <a:xfrm>
            <a:off x="1508760" y="1463040"/>
            <a:ext cx="1463040" cy="685800"/>
          </a:xfrm>
          <a:prstGeom prst="rect">
            <a:avLst/>
          </a:prstGeom>
          <a:noFill/>
          <a:ln/>
        </p:spPr>
        <p:txBody>
          <a:bodyPr wrap="square" lIns="0" tIns="0" rIns="0" bIns="0" rtlCol="0" anchor="ctr"/>
          <a:lstStyle/>
          <a:p>
            <a:pPr indent="0" marL="0">
              <a:buNone/>
            </a:pPr>
            <a:r>
              <a:rPr lang="en-US" sz="1200" dirty="0">
                <a:solidFill>
                  <a:srgbClr val="1F2933"/>
                </a:solidFill>
              </a:rPr>
              <a:t>of global foundry chip revenue (TSMC)</a:t>
            </a:r>
            <a:endParaRPr lang="en-US" sz="1200" dirty="0"/>
          </a:p>
        </p:txBody>
      </p:sp>
      <p:sp>
        <p:nvSpPr>
          <p:cNvPr id="7" name="StatCard1"/>
          <p:cNvSpPr/>
          <p:nvPr/>
        </p:nvSpPr>
        <p:spPr>
          <a:xfrm>
            <a:off x="3264408" y="1463040"/>
            <a:ext cx="2606040" cy="685800"/>
          </a:xfrm>
          <a:prstGeom prst="roundRect">
            <a:avLst>
              <a:gd name="adj" fmla="val 10667"/>
            </a:avLst>
          </a:prstGeom>
          <a:solidFill>
            <a:srgbClr val="FFFFFF"/>
          </a:solidFill>
          <a:ln/>
          <a:effectLst>
            <a:outerShdw sx="100000" sy="100000" kx="0" ky="0" algn="bl" rotWithShape="0" blurRad="76200" dist="25400" dir="5400000">
              <a:srgbClr val="000000">
                <a:alpha val="12000"/>
              </a:srgbClr>
            </a:outerShdw>
          </a:effectLst>
        </p:spPr>
      </p:sp>
      <p:sp>
        <p:nvSpPr>
          <p:cNvPr id="8" name="Text 6"/>
          <p:cNvSpPr txBox="1"/>
          <p:nvPr/>
        </p:nvSpPr>
        <p:spPr>
          <a:xfrm>
            <a:off x="3401568" y="1463040"/>
            <a:ext cx="914400" cy="685800"/>
          </a:xfrm>
          <a:prstGeom prst="rect">
            <a:avLst/>
          </a:prstGeom>
          <a:noFill/>
          <a:ln/>
        </p:spPr>
        <p:txBody>
          <a:bodyPr wrap="square" lIns="0" tIns="0" rIns="0" bIns="0" rtlCol="0" anchor="ctr"/>
          <a:lstStyle/>
          <a:p>
            <a:pPr indent="0" marL="0">
              <a:buNone/>
            </a:pPr>
            <a:r>
              <a:rPr lang="en-US" sz="2200" b="1" dirty="0">
                <a:solidFill>
                  <a:srgbClr val="D9701F"/>
                </a:solidFill>
                <a:latin typeface="Cambria" pitchFamily="34" charset="0"/>
                <a:ea typeface="Cambria" pitchFamily="34" charset="-122"/>
                <a:cs typeface="Cambria" pitchFamily="34" charset="-120"/>
              </a:rPr>
              <a:t>~90%</a:t>
            </a:r>
            <a:endParaRPr lang="en-US" sz="2200" dirty="0"/>
          </a:p>
        </p:txBody>
      </p:sp>
      <p:sp>
        <p:nvSpPr>
          <p:cNvPr id="9" name="Text 7"/>
          <p:cNvSpPr txBox="1"/>
          <p:nvPr/>
        </p:nvSpPr>
        <p:spPr>
          <a:xfrm>
            <a:off x="4315968" y="1463040"/>
            <a:ext cx="1463040" cy="685800"/>
          </a:xfrm>
          <a:prstGeom prst="rect">
            <a:avLst/>
          </a:prstGeom>
          <a:noFill/>
          <a:ln/>
        </p:spPr>
        <p:txBody>
          <a:bodyPr wrap="square" lIns="0" tIns="0" rIns="0" bIns="0" rtlCol="0" anchor="ctr"/>
          <a:lstStyle/>
          <a:p>
            <a:pPr indent="0" marL="0">
              <a:buNone/>
            </a:pPr>
            <a:r>
              <a:rPr lang="en-US" sz="1200" dirty="0">
                <a:solidFill>
                  <a:srgbClr val="1F2933"/>
                </a:solidFill>
              </a:rPr>
              <a:t>of the most advanced chips</a:t>
            </a:r>
            <a:endParaRPr lang="en-US" sz="1200" dirty="0"/>
          </a:p>
        </p:txBody>
      </p:sp>
      <p:sp>
        <p:nvSpPr>
          <p:cNvPr id="10" name="StatCard2"/>
          <p:cNvSpPr/>
          <p:nvPr/>
        </p:nvSpPr>
        <p:spPr>
          <a:xfrm>
            <a:off x="6071616" y="1463040"/>
            <a:ext cx="2606040" cy="685800"/>
          </a:xfrm>
          <a:prstGeom prst="roundRect">
            <a:avLst>
              <a:gd name="adj" fmla="val 10667"/>
            </a:avLst>
          </a:prstGeom>
          <a:solidFill>
            <a:srgbClr val="FFFFFF"/>
          </a:solidFill>
          <a:ln/>
          <a:effectLst>
            <a:outerShdw sx="100000" sy="100000" kx="0" ky="0" algn="bl" rotWithShape="0" blurRad="76200" dist="25400" dir="5400000">
              <a:srgbClr val="000000">
                <a:alpha val="12000"/>
              </a:srgbClr>
            </a:outerShdw>
          </a:effectLst>
        </p:spPr>
      </p:sp>
      <p:sp>
        <p:nvSpPr>
          <p:cNvPr id="11" name="Text 9"/>
          <p:cNvSpPr txBox="1"/>
          <p:nvPr/>
        </p:nvSpPr>
        <p:spPr>
          <a:xfrm>
            <a:off x="6208776" y="1463040"/>
            <a:ext cx="914400" cy="685800"/>
          </a:xfrm>
          <a:prstGeom prst="rect">
            <a:avLst/>
          </a:prstGeom>
          <a:noFill/>
          <a:ln/>
        </p:spPr>
        <p:txBody>
          <a:bodyPr wrap="square" lIns="0" tIns="0" rIns="0" bIns="0" rtlCol="0" anchor="ctr"/>
          <a:lstStyle/>
          <a:p>
            <a:pPr indent="0" marL="0">
              <a:buNone/>
            </a:pPr>
            <a:r>
              <a:rPr lang="en-US" sz="2200" b="1" dirty="0">
                <a:solidFill>
                  <a:srgbClr val="D9701F"/>
                </a:solidFill>
                <a:latin typeface="Cambria" pitchFamily="34" charset="0"/>
                <a:ea typeface="Cambria" pitchFamily="34" charset="-122"/>
                <a:cs typeface="Cambria" pitchFamily="34" charset="-120"/>
              </a:rPr>
              <a:t>&gt;100%</a:t>
            </a:r>
            <a:endParaRPr lang="en-US" sz="2200" dirty="0"/>
          </a:p>
        </p:txBody>
      </p:sp>
      <p:sp>
        <p:nvSpPr>
          <p:cNvPr id="12" name="Text 10"/>
          <p:cNvSpPr txBox="1"/>
          <p:nvPr/>
        </p:nvSpPr>
        <p:spPr>
          <a:xfrm>
            <a:off x="7123176" y="1463040"/>
            <a:ext cx="1463040" cy="685800"/>
          </a:xfrm>
          <a:prstGeom prst="rect">
            <a:avLst/>
          </a:prstGeom>
          <a:noFill/>
          <a:ln/>
        </p:spPr>
        <p:txBody>
          <a:bodyPr wrap="square" lIns="0" tIns="0" rIns="0" bIns="0" rtlCol="0" anchor="ctr"/>
          <a:lstStyle/>
          <a:p>
            <a:pPr indent="0" marL="0">
              <a:buNone/>
            </a:pPr>
            <a:r>
              <a:rPr lang="en-US" sz="1200" dirty="0">
                <a:solidFill>
                  <a:srgbClr val="1F2933"/>
                </a:solidFill>
              </a:rPr>
              <a:t>trade as a share of GDP</a:t>
            </a:r>
            <a:endParaRPr lang="en-US" sz="1200" dirty="0"/>
          </a:p>
        </p:txBody>
      </p:sp>
      <p:sp>
        <p:nvSpPr>
          <p:cNvPr id="13" name="Region0"/>
          <p:cNvSpPr/>
          <p:nvPr/>
        </p:nvSpPr>
        <p:spPr>
          <a:xfrm>
            <a:off x="457200" y="2331720"/>
            <a:ext cx="1920240" cy="2514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4" name="RegionHead0"/>
          <p:cNvSpPr/>
          <p:nvPr/>
        </p:nvSpPr>
        <p:spPr>
          <a:xfrm>
            <a:off x="457200" y="2331720"/>
            <a:ext cx="1920240" cy="731520"/>
          </a:xfrm>
          <a:prstGeom prst="rect">
            <a:avLst/>
          </a:prstGeom>
          <a:solidFill>
            <a:srgbClr val="9CC9EC"/>
          </a:solidFill>
          <a:ln/>
        </p:spPr>
      </p:sp>
      <p:sp>
        <p:nvSpPr>
          <p:cNvPr id="15" name="Text 13"/>
          <p:cNvSpPr txBox="1"/>
          <p:nvPr/>
        </p:nvSpPr>
        <p:spPr>
          <a:xfrm>
            <a:off x="566928" y="2359152"/>
            <a:ext cx="1700784" cy="36576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Europe</a:t>
            </a:r>
            <a:endParaRPr lang="en-US" sz="1800" dirty="0"/>
          </a:p>
        </p:txBody>
      </p:sp>
      <p:sp>
        <p:nvSpPr>
          <p:cNvPr id="16" name="Text 14"/>
          <p:cNvSpPr txBox="1"/>
          <p:nvPr/>
        </p:nvSpPr>
        <p:spPr>
          <a:xfrm>
            <a:off x="566928" y="2715768"/>
            <a:ext cx="1700784" cy="274320"/>
          </a:xfrm>
          <a:prstGeom prst="rect">
            <a:avLst/>
          </a:prstGeom>
          <a:noFill/>
          <a:ln/>
        </p:spPr>
        <p:txBody>
          <a:bodyPr wrap="square" lIns="0" tIns="0" rIns="0" bIns="0" rtlCol="0" anchor="ctr"/>
          <a:lstStyle/>
          <a:p>
            <a:pPr indent="0" marL="0">
              <a:buNone/>
            </a:pPr>
            <a:r>
              <a:rPr lang="en-US" sz="1200" dirty="0">
                <a:solidFill>
                  <a:srgbClr val="1F2933"/>
                </a:solidFill>
              </a:rPr>
              <a:t>Technology &amp; investment</a:t>
            </a:r>
            <a:endParaRPr lang="en-US" sz="1200" dirty="0"/>
          </a:p>
        </p:txBody>
      </p:sp>
      <p:sp>
        <p:nvSpPr>
          <p:cNvPr id="17" name="Text 15"/>
          <p:cNvSpPr txBox="1"/>
          <p:nvPr/>
        </p:nvSpPr>
        <p:spPr>
          <a:xfrm>
            <a:off x="566928" y="3154680"/>
            <a:ext cx="1700784"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rPr>
              <a:t>ASML (NL) makes the EUV machines TSMC needs</a:t>
            </a:r>
            <a:endParaRPr lang="en-US" sz="1200" dirty="0"/>
          </a:p>
          <a:p>
            <a:pPr marL="342900" indent="-342900">
              <a:spcAft>
                <a:spcPts val="600"/>
              </a:spcAft>
              <a:buSzPct val="100000"/>
              <a:buChar char="•"/>
            </a:pPr>
            <a:r>
              <a:rPr lang="en-US" sz="1200" dirty="0">
                <a:solidFill>
                  <a:srgbClr val="1F2933"/>
                </a:solidFill>
              </a:rPr>
              <a:t>EU: largest foreign investor (e.g. offshore wind)</a:t>
            </a:r>
            <a:endParaRPr lang="en-US" sz="1200" dirty="0"/>
          </a:p>
          <a:p>
            <a:pPr marL="342900" indent="-342900">
              <a:spcAft>
                <a:spcPts val="600"/>
              </a:spcAft>
              <a:buSzPct val="100000"/>
              <a:buChar char="•"/>
            </a:pPr>
            <a:r>
              <a:rPr lang="en-US" sz="1200" dirty="0">
                <a:solidFill>
                  <a:srgbClr val="1F2933"/>
                </a:solidFill>
              </a:rPr>
              <a:t>TSMC fab in Dresden</a:t>
            </a:r>
            <a:endParaRPr lang="en-US" sz="1200" dirty="0"/>
          </a:p>
        </p:txBody>
      </p:sp>
      <p:sp>
        <p:nvSpPr>
          <p:cNvPr id="18" name="Region1"/>
          <p:cNvSpPr/>
          <p:nvPr/>
        </p:nvSpPr>
        <p:spPr>
          <a:xfrm>
            <a:off x="2560320" y="2331720"/>
            <a:ext cx="1920240" cy="2514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9" name="RegionHead1"/>
          <p:cNvSpPr/>
          <p:nvPr/>
        </p:nvSpPr>
        <p:spPr>
          <a:xfrm>
            <a:off x="2560320" y="2331720"/>
            <a:ext cx="1920240" cy="731520"/>
          </a:xfrm>
          <a:prstGeom prst="rect">
            <a:avLst/>
          </a:prstGeom>
          <a:solidFill>
            <a:srgbClr val="F8B878"/>
          </a:solidFill>
          <a:ln/>
        </p:spPr>
      </p:sp>
      <p:sp>
        <p:nvSpPr>
          <p:cNvPr id="20" name="Text 18"/>
          <p:cNvSpPr txBox="1"/>
          <p:nvPr/>
        </p:nvSpPr>
        <p:spPr>
          <a:xfrm>
            <a:off x="2670048" y="2359152"/>
            <a:ext cx="1700784" cy="36576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Japan</a:t>
            </a:r>
            <a:endParaRPr lang="en-US" sz="1800" dirty="0"/>
          </a:p>
        </p:txBody>
      </p:sp>
      <p:sp>
        <p:nvSpPr>
          <p:cNvPr id="21" name="Text 19"/>
          <p:cNvSpPr txBox="1"/>
          <p:nvPr/>
        </p:nvSpPr>
        <p:spPr>
          <a:xfrm>
            <a:off x="2670048" y="2715768"/>
            <a:ext cx="1700784" cy="274320"/>
          </a:xfrm>
          <a:prstGeom prst="rect">
            <a:avLst/>
          </a:prstGeom>
          <a:noFill/>
          <a:ln/>
        </p:spPr>
        <p:txBody>
          <a:bodyPr wrap="square" lIns="0" tIns="0" rIns="0" bIns="0" rtlCol="0" anchor="ctr"/>
          <a:lstStyle/>
          <a:p>
            <a:pPr indent="0" marL="0">
              <a:buNone/>
            </a:pPr>
            <a:r>
              <a:rPr lang="en-US" sz="1200" dirty="0">
                <a:solidFill>
                  <a:srgbClr val="1F2933"/>
                </a:solidFill>
              </a:rPr>
              <a:t>Materials &amp; shared fabs</a:t>
            </a:r>
            <a:endParaRPr lang="en-US" sz="1200" dirty="0"/>
          </a:p>
        </p:txBody>
      </p:sp>
      <p:sp>
        <p:nvSpPr>
          <p:cNvPr id="22" name="Text 20"/>
          <p:cNvSpPr txBox="1"/>
          <p:nvPr/>
        </p:nvSpPr>
        <p:spPr>
          <a:xfrm>
            <a:off x="2670048" y="3154680"/>
            <a:ext cx="1700784"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rPr>
              <a:t>Key supplier of chemicals, wafers, tools</a:t>
            </a:r>
            <a:endParaRPr lang="en-US" sz="1200" dirty="0"/>
          </a:p>
          <a:p>
            <a:pPr marL="342900" indent="-342900">
              <a:spcAft>
                <a:spcPts val="600"/>
              </a:spcAft>
              <a:buSzPct val="100000"/>
              <a:buChar char="•"/>
            </a:pPr>
            <a:r>
              <a:rPr lang="en-US" sz="1200" dirty="0">
                <a:solidFill>
                  <a:srgbClr val="1F2933"/>
                </a:solidFill>
              </a:rPr>
              <a:t>TSMC fab in Kumamoto with Sony, Denso</a:t>
            </a:r>
            <a:endParaRPr lang="en-US" sz="1200" dirty="0"/>
          </a:p>
          <a:p>
            <a:pPr marL="342900" indent="-342900">
              <a:spcAft>
                <a:spcPts val="600"/>
              </a:spcAft>
              <a:buSzPct val="100000"/>
              <a:buChar char="•"/>
            </a:pPr>
            <a:r>
              <a:rPr lang="en-US" sz="1200" dirty="0">
                <a:solidFill>
                  <a:srgbClr val="1F2933"/>
                </a:solidFill>
              </a:rPr>
              <a:t>Colonial-era legacy</a:t>
            </a:r>
            <a:endParaRPr lang="en-US" sz="1200" dirty="0"/>
          </a:p>
        </p:txBody>
      </p:sp>
      <p:sp>
        <p:nvSpPr>
          <p:cNvPr id="23" name="Region2"/>
          <p:cNvSpPr/>
          <p:nvPr/>
        </p:nvSpPr>
        <p:spPr>
          <a:xfrm>
            <a:off x="4663440" y="2331720"/>
            <a:ext cx="1920240" cy="2514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4" name="RegionHead2"/>
          <p:cNvSpPr/>
          <p:nvPr/>
        </p:nvSpPr>
        <p:spPr>
          <a:xfrm>
            <a:off x="4663440" y="2331720"/>
            <a:ext cx="1920240" cy="731520"/>
          </a:xfrm>
          <a:prstGeom prst="rect">
            <a:avLst/>
          </a:prstGeom>
          <a:solidFill>
            <a:srgbClr val="9CC9EC"/>
          </a:solidFill>
          <a:ln/>
        </p:spPr>
      </p:sp>
      <p:sp>
        <p:nvSpPr>
          <p:cNvPr id="25" name="Text 23"/>
          <p:cNvSpPr txBox="1"/>
          <p:nvPr/>
        </p:nvSpPr>
        <p:spPr>
          <a:xfrm>
            <a:off x="4773168" y="2359152"/>
            <a:ext cx="1700784" cy="36576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United States</a:t>
            </a:r>
            <a:endParaRPr lang="en-US" sz="1800" dirty="0"/>
          </a:p>
        </p:txBody>
      </p:sp>
      <p:sp>
        <p:nvSpPr>
          <p:cNvPr id="26" name="Text 24"/>
          <p:cNvSpPr txBox="1"/>
          <p:nvPr/>
        </p:nvSpPr>
        <p:spPr>
          <a:xfrm>
            <a:off x="4773168" y="2715768"/>
            <a:ext cx="1700784" cy="274320"/>
          </a:xfrm>
          <a:prstGeom prst="rect">
            <a:avLst/>
          </a:prstGeom>
          <a:noFill/>
          <a:ln/>
        </p:spPr>
        <p:txBody>
          <a:bodyPr wrap="square" lIns="0" tIns="0" rIns="0" bIns="0" rtlCol="0" anchor="ctr"/>
          <a:lstStyle/>
          <a:p>
            <a:pPr indent="0" marL="0">
              <a:buNone/>
            </a:pPr>
            <a:r>
              <a:rPr lang="en-US" sz="1200" dirty="0">
                <a:solidFill>
                  <a:srgbClr val="1F2933"/>
                </a:solidFill>
              </a:rPr>
              <a:t>Market, design &amp; security</a:t>
            </a:r>
            <a:endParaRPr lang="en-US" sz="1200" dirty="0"/>
          </a:p>
        </p:txBody>
      </p:sp>
      <p:sp>
        <p:nvSpPr>
          <p:cNvPr id="27" name="Text 25"/>
          <p:cNvSpPr txBox="1"/>
          <p:nvPr/>
        </p:nvSpPr>
        <p:spPr>
          <a:xfrm>
            <a:off x="4773168" y="3154680"/>
            <a:ext cx="1700784"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rPr>
              <a:t>Top market for ICT and chips</a:t>
            </a:r>
            <a:endParaRPr lang="en-US" sz="1200" dirty="0"/>
          </a:p>
          <a:p>
            <a:pPr marL="342900" indent="-342900">
              <a:spcAft>
                <a:spcPts val="600"/>
              </a:spcAft>
              <a:buSzPct val="100000"/>
              <a:buChar char="•"/>
            </a:pPr>
            <a:r>
              <a:rPr lang="en-US" sz="1200" dirty="0">
                <a:solidFill>
                  <a:srgbClr val="1F2933"/>
                </a:solidFill>
              </a:rPr>
              <a:t>Apple, Nvidia, AMD design chips made in Taiwan</a:t>
            </a:r>
            <a:endParaRPr lang="en-US" sz="1200" dirty="0"/>
          </a:p>
          <a:p>
            <a:pPr marL="342900" indent="-342900">
              <a:spcAft>
                <a:spcPts val="600"/>
              </a:spcAft>
              <a:buSzPct val="100000"/>
              <a:buChar char="•"/>
            </a:pPr>
            <a:r>
              <a:rPr lang="en-US" sz="1200" dirty="0">
                <a:solidFill>
                  <a:srgbClr val="1F2933"/>
                </a:solidFill>
              </a:rPr>
              <a:t>TSMC fabs in Arizona</a:t>
            </a:r>
            <a:endParaRPr lang="en-US" sz="1200" dirty="0"/>
          </a:p>
        </p:txBody>
      </p:sp>
      <p:sp>
        <p:nvSpPr>
          <p:cNvPr id="28" name="Region3"/>
          <p:cNvSpPr/>
          <p:nvPr/>
        </p:nvSpPr>
        <p:spPr>
          <a:xfrm>
            <a:off x="6766560" y="2331720"/>
            <a:ext cx="1920240" cy="2514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9" name="RegionHead3"/>
          <p:cNvSpPr/>
          <p:nvPr/>
        </p:nvSpPr>
        <p:spPr>
          <a:xfrm>
            <a:off x="6766560" y="2331720"/>
            <a:ext cx="1920240" cy="731520"/>
          </a:xfrm>
          <a:prstGeom prst="rect">
            <a:avLst/>
          </a:prstGeom>
          <a:solidFill>
            <a:srgbClr val="F8B878"/>
          </a:solidFill>
          <a:ln/>
        </p:spPr>
      </p:sp>
      <p:sp>
        <p:nvSpPr>
          <p:cNvPr id="30" name="Text 28"/>
          <p:cNvSpPr txBox="1"/>
          <p:nvPr/>
        </p:nvSpPr>
        <p:spPr>
          <a:xfrm>
            <a:off x="6876288" y="2359152"/>
            <a:ext cx="1700784" cy="36576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ASEAN</a:t>
            </a:r>
            <a:endParaRPr lang="en-US" sz="1800" dirty="0"/>
          </a:p>
        </p:txBody>
      </p:sp>
      <p:sp>
        <p:nvSpPr>
          <p:cNvPr id="31" name="Text 29"/>
          <p:cNvSpPr txBox="1"/>
          <p:nvPr/>
        </p:nvSpPr>
        <p:spPr>
          <a:xfrm>
            <a:off x="6876288" y="2715768"/>
            <a:ext cx="1700784" cy="274320"/>
          </a:xfrm>
          <a:prstGeom prst="rect">
            <a:avLst/>
          </a:prstGeom>
          <a:noFill/>
          <a:ln/>
        </p:spPr>
        <p:txBody>
          <a:bodyPr wrap="square" lIns="0" tIns="0" rIns="0" bIns="0" rtlCol="0" anchor="ctr"/>
          <a:lstStyle/>
          <a:p>
            <a:pPr indent="0" marL="0">
              <a:buNone/>
            </a:pPr>
            <a:r>
              <a:rPr lang="en-US" sz="1200" dirty="0">
                <a:solidFill>
                  <a:srgbClr val="1F2933"/>
                </a:solidFill>
              </a:rPr>
              <a:t>Production &amp; labour</a:t>
            </a:r>
            <a:endParaRPr lang="en-US" sz="1200" dirty="0"/>
          </a:p>
        </p:txBody>
      </p:sp>
      <p:sp>
        <p:nvSpPr>
          <p:cNvPr id="32" name="Text 30"/>
          <p:cNvSpPr txBox="1"/>
          <p:nvPr/>
        </p:nvSpPr>
        <p:spPr>
          <a:xfrm>
            <a:off x="6876288" y="3154680"/>
            <a:ext cx="1700784"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rPr>
              <a:t>Taiwanese factories in Vietnam, Thailand, Malaysia</a:t>
            </a:r>
            <a:endParaRPr lang="en-US" sz="1200" dirty="0"/>
          </a:p>
          <a:p>
            <a:pPr marL="342900" indent="-342900">
              <a:spcAft>
                <a:spcPts val="600"/>
              </a:spcAft>
              <a:buSzPct val="100000"/>
              <a:buChar char="•"/>
            </a:pPr>
            <a:r>
              <a:rPr lang="en-US" sz="1200" dirty="0">
                <a:solidFill>
                  <a:srgbClr val="1F2933"/>
                </a:solidFill>
              </a:rPr>
              <a:t>Migrant workers fill Taiwan's labour gaps</a:t>
            </a:r>
            <a:endParaRPr lang="en-US" sz="1200" dirty="0"/>
          </a:p>
          <a:p>
            <a:pPr marL="342900" indent="-342900">
              <a:spcAft>
                <a:spcPts val="600"/>
              </a:spcAft>
              <a:buSzPct val="100000"/>
              <a:buChar char="•"/>
            </a:pPr>
            <a:r>
              <a:rPr lang="en-US" sz="1200" dirty="0">
                <a:solidFill>
                  <a:srgbClr val="1F2933"/>
                </a:solidFill>
              </a:rPr>
              <a:t>New Southbound Policy (2016)</a:t>
            </a:r>
            <a:endParaRPr lang="en-US" sz="1200" dirty="0"/>
          </a:p>
        </p:txBody>
      </p:sp>
      <p:sp>
        <p:nvSpPr>
          <p:cNvPr id="33" name="Text 31"/>
          <p:cNvSpPr txBox="1"/>
          <p:nvPr/>
        </p:nvSpPr>
        <p:spPr>
          <a:xfrm>
            <a:off x="457200" y="4873752"/>
            <a:ext cx="8229600" cy="228600"/>
          </a:xfrm>
          <a:prstGeom prst="rect">
            <a:avLst/>
          </a:prstGeom>
          <a:noFill/>
          <a:ln/>
        </p:spPr>
        <p:txBody>
          <a:bodyPr wrap="square" lIns="0" tIns="0" rIns="0" bIns="0" rtlCol="0" anchor="ctr"/>
          <a:lstStyle/>
          <a:p>
            <a:pPr indent="0" marL="0">
              <a:buNone/>
            </a:pPr>
            <a:r>
              <a:rPr lang="en-US" sz="1100" dirty="0">
                <a:solidFill>
                  <a:srgbClr val="5B6B7A"/>
                </a:solidFill>
              </a:rPr>
              <a:t>Also: China/HK (assembly and market)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3F86C4"/>
                </a:solidFill>
                <a:latin typeface="Calibri" pitchFamily="34" charset="0"/>
                <a:ea typeface="Calibri" pitchFamily="34" charset="-122"/>
                <a:cs typeface="Calibri" pitchFamily="34" charset="-120"/>
              </a:rPr>
              <a:t>Q2 · CAPITALISM, GLOBALIZATION &amp; FREE TRADE</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Globalization: growth engine and vulnerability</a:t>
            </a:r>
            <a:endParaRPr lang="en-US" sz="2600" dirty="0"/>
          </a:p>
        </p:txBody>
      </p:sp>
      <p:sp>
        <p:nvSpPr>
          <p:cNvPr id="4" name="Gains"/>
          <p:cNvSpPr/>
          <p:nvPr/>
        </p:nvSpPr>
        <p:spPr>
          <a:xfrm>
            <a:off x="457200" y="1371600"/>
            <a:ext cx="4023360" cy="33375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5" name="GainsDot"/>
          <p:cNvSpPr/>
          <p:nvPr/>
        </p:nvSpPr>
        <p:spPr>
          <a:xfrm>
            <a:off x="685800" y="1554480"/>
            <a:ext cx="457200" cy="457200"/>
          </a:xfrm>
          <a:prstGeom prst="ellipse">
            <a:avLst/>
          </a:prstGeom>
          <a:solidFill>
            <a:srgbClr val="3F86C4"/>
          </a:solidFill>
          <a:ln/>
        </p:spPr>
      </p:sp>
      <p:sp>
        <p:nvSpPr>
          <p:cNvPr id="6" name="Text 4"/>
          <p:cNvSpPr txBox="1"/>
          <p:nvPr/>
        </p:nvSpPr>
        <p:spPr>
          <a:xfrm>
            <a:off x="685800" y="1554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7" name="Text 5"/>
          <p:cNvSpPr txBox="1"/>
          <p:nvPr/>
        </p:nvSpPr>
        <p:spPr>
          <a:xfrm>
            <a:off x="1280160" y="1554480"/>
            <a:ext cx="3017520" cy="457200"/>
          </a:xfrm>
          <a:prstGeom prst="rect">
            <a:avLst/>
          </a:prstGeom>
          <a:noFill/>
          <a:ln/>
        </p:spPr>
        <p:txBody>
          <a:bodyPr wrap="square" lIns="0" tIns="0" rIns="0" bIns="0" rtlCol="0" anchor="ctr"/>
          <a:lstStyle/>
          <a:p>
            <a:pPr indent="0" marL="0">
              <a:buNone/>
            </a:pPr>
            <a:r>
              <a:rPr lang="en-US" sz="2000" b="1" dirty="0">
                <a:solidFill>
                  <a:srgbClr val="3F86C4"/>
                </a:solidFill>
                <a:latin typeface="Cambria" pitchFamily="34" charset="0"/>
                <a:ea typeface="Cambria" pitchFamily="34" charset="-122"/>
                <a:cs typeface="Cambria" pitchFamily="34" charset="-120"/>
              </a:rPr>
              <a:t>Gains</a:t>
            </a:r>
            <a:endParaRPr lang="en-US" sz="2000" dirty="0"/>
          </a:p>
        </p:txBody>
      </p:sp>
      <p:sp>
        <p:nvSpPr>
          <p:cNvPr id="8" name="Text 6"/>
          <p:cNvSpPr txBox="1"/>
          <p:nvPr/>
        </p:nvSpPr>
        <p:spPr>
          <a:xfrm>
            <a:off x="685800" y="2194560"/>
            <a:ext cx="361188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3"/>
                </a:solidFill>
              </a:rPr>
              <a:t>GDP per capita from ~US$1,000 (1970s) to &gt;US$30,000</a:t>
            </a:r>
            <a:endParaRPr lang="en-US" sz="1400" dirty="0"/>
          </a:p>
          <a:p>
            <a:pPr marL="342900" indent="-342900">
              <a:spcAft>
                <a:spcPts val="600"/>
              </a:spcAft>
              <a:buSzPct val="100000"/>
              <a:buChar char="•"/>
            </a:pPr>
            <a:r>
              <a:rPr lang="en-US" sz="1400" dirty="0">
                <a:solidFill>
                  <a:srgbClr val="1F2933"/>
                </a:solidFill>
              </a:rPr>
              <a:t>Export-led growth with relatively low inequality</a:t>
            </a:r>
            <a:endParaRPr lang="en-US" sz="1400" dirty="0"/>
          </a:p>
          <a:p>
            <a:pPr marL="342900" indent="-342900">
              <a:spcAft>
                <a:spcPts val="600"/>
              </a:spcAft>
              <a:buSzPct val="100000"/>
              <a:buChar char="•"/>
            </a:pPr>
            <a:r>
              <a:rPr lang="en-US" sz="1400" dirty="0">
                <a:solidFill>
                  <a:srgbClr val="1F2933"/>
                </a:solidFill>
              </a:rPr>
              <a:t>US aid, technology and markets enabled early take-off</a:t>
            </a:r>
            <a:endParaRPr lang="en-US" sz="1400" dirty="0"/>
          </a:p>
          <a:p>
            <a:pPr marL="342900" indent="-342900">
              <a:spcAft>
                <a:spcPts val="600"/>
              </a:spcAft>
              <a:buSzPct val="100000"/>
              <a:buChar char="•"/>
            </a:pPr>
            <a:r>
              <a:rPr lang="en-US" sz="1400" dirty="0">
                <a:solidFill>
                  <a:srgbClr val="1F2933"/>
                </a:solidFill>
              </a:rPr>
              <a:t>Global value-chain niche: chips, ICT, machinery</a:t>
            </a:r>
            <a:endParaRPr lang="en-US" sz="1400" dirty="0"/>
          </a:p>
        </p:txBody>
      </p:sp>
      <p:sp>
        <p:nvSpPr>
          <p:cNvPr id="9" name="Costs &amp; risks"/>
          <p:cNvSpPr/>
          <p:nvPr/>
        </p:nvSpPr>
        <p:spPr>
          <a:xfrm>
            <a:off x="4663440" y="1371600"/>
            <a:ext cx="4023360" cy="33375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0" name="Costs &amp; risksDot"/>
          <p:cNvSpPr/>
          <p:nvPr/>
        </p:nvSpPr>
        <p:spPr>
          <a:xfrm>
            <a:off x="4892040" y="1554480"/>
            <a:ext cx="457200" cy="457200"/>
          </a:xfrm>
          <a:prstGeom prst="ellipse">
            <a:avLst/>
          </a:prstGeom>
          <a:solidFill>
            <a:srgbClr val="D9701F"/>
          </a:solidFill>
          <a:ln/>
        </p:spPr>
      </p:sp>
      <p:sp>
        <p:nvSpPr>
          <p:cNvPr id="11" name="Text 9"/>
          <p:cNvSpPr txBox="1"/>
          <p:nvPr/>
        </p:nvSpPr>
        <p:spPr>
          <a:xfrm>
            <a:off x="4892040" y="1554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12" name="Text 10"/>
          <p:cNvSpPr txBox="1"/>
          <p:nvPr/>
        </p:nvSpPr>
        <p:spPr>
          <a:xfrm>
            <a:off x="5486400" y="1554480"/>
            <a:ext cx="3017520" cy="457200"/>
          </a:xfrm>
          <a:prstGeom prst="rect">
            <a:avLst/>
          </a:prstGeom>
          <a:noFill/>
          <a:ln/>
        </p:spPr>
        <p:txBody>
          <a:bodyPr wrap="square" lIns="0" tIns="0" rIns="0" bIns="0" rtlCol="0" anchor="ctr"/>
          <a:lstStyle/>
          <a:p>
            <a:pPr indent="0" marL="0">
              <a:buNone/>
            </a:pPr>
            <a:r>
              <a:rPr lang="en-US" sz="2000" b="1" dirty="0">
                <a:solidFill>
                  <a:srgbClr val="D9701F"/>
                </a:solidFill>
                <a:latin typeface="Cambria" pitchFamily="34" charset="0"/>
                <a:ea typeface="Cambria" pitchFamily="34" charset="-122"/>
                <a:cs typeface="Cambria" pitchFamily="34" charset="-120"/>
              </a:rPr>
              <a:t>Costs &amp; risks</a:t>
            </a:r>
            <a:endParaRPr lang="en-US" sz="2000" dirty="0"/>
          </a:p>
        </p:txBody>
      </p:sp>
      <p:sp>
        <p:nvSpPr>
          <p:cNvPr id="13" name="Text 11"/>
          <p:cNvSpPr txBox="1"/>
          <p:nvPr/>
        </p:nvSpPr>
        <p:spPr>
          <a:xfrm>
            <a:off x="4892040" y="2194560"/>
            <a:ext cx="361188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3"/>
                </a:solidFill>
              </a:rPr>
              <a:t>Hollowing out: factories moved to China after 1987</a:t>
            </a:r>
            <a:endParaRPr lang="en-US" sz="1400" dirty="0"/>
          </a:p>
          <a:p>
            <a:pPr marL="342900" indent="-342900">
              <a:spcAft>
                <a:spcPts val="600"/>
              </a:spcAft>
              <a:buSzPct val="100000"/>
              <a:buChar char="•"/>
            </a:pPr>
            <a:r>
              <a:rPr lang="en-US" sz="1400" dirty="0">
                <a:solidFill>
                  <a:srgbClr val="1F2933"/>
                </a:solidFill>
              </a:rPr>
              <a:t>Wage stagnation; dual economy: high-wage chip giants vs low-productivity small firms and services</a:t>
            </a:r>
            <a:endParaRPr lang="en-US" sz="1400" dirty="0"/>
          </a:p>
          <a:p>
            <a:pPr marL="342900" indent="-342900">
              <a:spcAft>
                <a:spcPts val="600"/>
              </a:spcAft>
              <a:buSzPct val="100000"/>
              <a:buChar char="•"/>
            </a:pPr>
            <a:r>
              <a:rPr lang="en-US" sz="1400" dirty="0">
                <a:solidFill>
                  <a:srgbClr val="1F2933"/>
                </a:solidFill>
              </a:rPr>
              <a:t>Dependence on one sector and on US–China relations</a:t>
            </a:r>
            <a:endParaRPr lang="en-US" sz="1400" dirty="0"/>
          </a:p>
          <a:p>
            <a:pPr marL="342900" indent="-342900">
              <a:spcAft>
                <a:spcPts val="600"/>
              </a:spcAft>
              <a:buSzPct val="100000"/>
              <a:buChar char="•"/>
            </a:pPr>
            <a:r>
              <a:rPr lang="en-US" sz="1400" dirty="0">
                <a:solidFill>
                  <a:srgbClr val="1F2933"/>
                </a:solidFill>
              </a:rPr>
              <a:t>Environmental pressure: energy, water, land</a:t>
            </a:r>
            <a:endParaRPr lang="en-US" sz="1400" dirty="0"/>
          </a:p>
          <a:p>
            <a:pPr marL="342900" indent="-342900">
              <a:spcAft>
                <a:spcPts val="600"/>
              </a:spcAft>
              <a:buSzPct val="100000"/>
              <a:buChar char="•"/>
            </a:pPr>
            <a:r>
              <a:rPr lang="en-US" sz="1400" dirty="0">
                <a:solidFill>
                  <a:srgbClr val="1F2933"/>
                </a:solidFill>
              </a:rPr>
              <a:t>Ageing and very low fertility (TFR ≈ 0.9)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3F86C4"/>
                </a:solidFill>
                <a:latin typeface="Calibri" pitchFamily="34" charset="0"/>
                <a:ea typeface="Calibri" pitchFamily="34" charset="-122"/>
                <a:cs typeface="Calibri" pitchFamily="34" charset="-120"/>
              </a:rPr>
              <a:t>Q3 · LOCAL ECONOMY 1970s – TODAY</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Fifty years of change, driven by shocks</a:t>
            </a:r>
            <a:endParaRPr lang="en-US" sz="2600" dirty="0"/>
          </a:p>
        </p:txBody>
      </p:sp>
      <p:sp>
        <p:nvSpPr>
          <p:cNvPr id="4" name="Era0"/>
          <p:cNvSpPr/>
          <p:nvPr/>
        </p:nvSpPr>
        <p:spPr>
          <a:xfrm>
            <a:off x="457200" y="1371600"/>
            <a:ext cx="1600200" cy="457200"/>
          </a:xfrm>
          <a:prstGeom prst="rect">
            <a:avLst/>
          </a:prstGeom>
          <a:solidFill>
            <a:srgbClr val="9CC9EC"/>
          </a:solidFill>
          <a:ln/>
        </p:spPr>
      </p:sp>
      <p:sp>
        <p:nvSpPr>
          <p:cNvPr id="5" name="Text 3"/>
          <p:cNvSpPr txBox="1"/>
          <p:nvPr/>
        </p:nvSpPr>
        <p:spPr>
          <a:xfrm>
            <a:off x="457200" y="1371600"/>
            <a:ext cx="1600200" cy="457200"/>
          </a:xfrm>
          <a:prstGeom prst="rect">
            <a:avLst/>
          </a:prstGeom>
          <a:noFill/>
          <a:ln/>
        </p:spPr>
        <p:txBody>
          <a:bodyPr wrap="square" lIns="0" tIns="0" rIns="0" bIns="0" rtlCol="0" anchor="ctr"/>
          <a:lstStyle/>
          <a:p>
            <a:pPr algn="ctr" indent="0" marL="0">
              <a:buNone/>
            </a:pPr>
            <a:r>
              <a:rPr lang="en-US" sz="1600" b="1" dirty="0">
                <a:solidFill>
                  <a:srgbClr val="1F4E79"/>
                </a:solidFill>
              </a:rPr>
              <a:t>1970s</a:t>
            </a:r>
            <a:endParaRPr lang="en-US" sz="1600" dirty="0"/>
          </a:p>
        </p:txBody>
      </p:sp>
      <p:sp>
        <p:nvSpPr>
          <p:cNvPr id="6" name="EraBody0"/>
          <p:cNvSpPr/>
          <p:nvPr/>
        </p:nvSpPr>
        <p:spPr>
          <a:xfrm>
            <a:off x="457200" y="1828800"/>
            <a:ext cx="1600200" cy="1371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7" name="Text 5"/>
          <p:cNvSpPr txBox="1"/>
          <p:nvPr/>
        </p:nvSpPr>
        <p:spPr>
          <a:xfrm>
            <a:off x="548640" y="1874520"/>
            <a:ext cx="1417320" cy="1280160"/>
          </a:xfrm>
          <a:prstGeom prst="rect">
            <a:avLst/>
          </a:prstGeom>
          <a:noFill/>
          <a:ln/>
        </p:spPr>
        <p:txBody>
          <a:bodyPr wrap="square" lIns="0" tIns="0" rIns="0" bIns="0" rtlCol="0" anchor="t"/>
          <a:lstStyle/>
          <a:p>
            <a:pPr indent="0" marL="0">
              <a:buNone/>
            </a:pPr>
            <a:r>
              <a:rPr lang="en-US" sz="1300" dirty="0">
                <a:solidFill>
                  <a:srgbClr val="1F2933"/>
                </a:solidFill>
              </a:rPr>
              <a:t>Labour-intensive exports → heavy &amp; petrochemical industry</a:t>
            </a:r>
            <a:endParaRPr lang="en-US" sz="1300" dirty="0"/>
          </a:p>
        </p:txBody>
      </p:sp>
      <p:sp>
        <p:nvSpPr>
          <p:cNvPr id="8" name="Crisis0"/>
          <p:cNvSpPr/>
          <p:nvPr/>
        </p:nvSpPr>
        <p:spPr>
          <a:xfrm>
            <a:off x="457200" y="3264408"/>
            <a:ext cx="1600200" cy="777240"/>
          </a:xfrm>
          <a:prstGeom prst="rect">
            <a:avLst/>
          </a:prstGeom>
          <a:solidFill>
            <a:srgbClr val="FBE9DB"/>
          </a:solidFill>
          <a:ln/>
        </p:spPr>
      </p:sp>
      <p:sp>
        <p:nvSpPr>
          <p:cNvPr id="9" name="Text 7"/>
          <p:cNvSpPr txBox="1"/>
          <p:nvPr/>
        </p:nvSpPr>
        <p:spPr>
          <a:xfrm>
            <a:off x="548640" y="3264408"/>
            <a:ext cx="1417320" cy="777240"/>
          </a:xfrm>
          <a:prstGeom prst="rect">
            <a:avLst/>
          </a:prstGeom>
          <a:noFill/>
          <a:ln/>
        </p:spPr>
        <p:txBody>
          <a:bodyPr wrap="square" lIns="0" tIns="0" rIns="0" bIns="0" rtlCol="0" anchor="ctr"/>
          <a:lstStyle/>
          <a:p>
            <a:pPr indent="0" marL="0">
              <a:buNone/>
            </a:pPr>
            <a:r>
              <a:rPr lang="en-US" sz="1200" b="1" dirty="0">
                <a:solidFill>
                  <a:srgbClr val="7A3B10"/>
                </a:solidFill>
              </a:rPr>
              <a:t>Shock: </a:t>
            </a:r>
            <a:pPr indent="0" marL="0">
              <a:buNone/>
            </a:pPr>
            <a:r>
              <a:rPr lang="en-US" sz="1200" dirty="0">
                <a:solidFill>
                  <a:srgbClr val="7A3B10"/>
                </a:solidFill>
              </a:rPr>
              <a:t>Oil shocks 1973/79</a:t>
            </a:r>
            <a:endParaRPr lang="en-US" sz="1200" dirty="0"/>
          </a:p>
        </p:txBody>
      </p:sp>
      <p:sp>
        <p:nvSpPr>
          <p:cNvPr id="10" name="Era1"/>
          <p:cNvSpPr/>
          <p:nvPr/>
        </p:nvSpPr>
        <p:spPr>
          <a:xfrm>
            <a:off x="2112264" y="1371600"/>
            <a:ext cx="1600200" cy="457200"/>
          </a:xfrm>
          <a:prstGeom prst="rect">
            <a:avLst/>
          </a:prstGeom>
          <a:solidFill>
            <a:srgbClr val="9CC9EC"/>
          </a:solidFill>
          <a:ln/>
        </p:spPr>
      </p:sp>
      <p:sp>
        <p:nvSpPr>
          <p:cNvPr id="11" name="Text 9"/>
          <p:cNvSpPr txBox="1"/>
          <p:nvPr/>
        </p:nvSpPr>
        <p:spPr>
          <a:xfrm>
            <a:off x="2112264" y="1371600"/>
            <a:ext cx="1600200" cy="457200"/>
          </a:xfrm>
          <a:prstGeom prst="rect">
            <a:avLst/>
          </a:prstGeom>
          <a:noFill/>
          <a:ln/>
        </p:spPr>
        <p:txBody>
          <a:bodyPr wrap="square" lIns="0" tIns="0" rIns="0" bIns="0" rtlCol="0" anchor="ctr"/>
          <a:lstStyle/>
          <a:p>
            <a:pPr algn="ctr" indent="0" marL="0">
              <a:buNone/>
            </a:pPr>
            <a:r>
              <a:rPr lang="en-US" sz="1600" b="1" dirty="0">
                <a:solidFill>
                  <a:srgbClr val="1F4E79"/>
                </a:solidFill>
              </a:rPr>
              <a:t>1980s</a:t>
            </a:r>
            <a:endParaRPr lang="en-US" sz="1600" dirty="0"/>
          </a:p>
        </p:txBody>
      </p:sp>
      <p:sp>
        <p:nvSpPr>
          <p:cNvPr id="12" name="EraBody1"/>
          <p:cNvSpPr/>
          <p:nvPr/>
        </p:nvSpPr>
        <p:spPr>
          <a:xfrm>
            <a:off x="2112264" y="1828800"/>
            <a:ext cx="1600200" cy="1371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3" name="Text 11"/>
          <p:cNvSpPr txBox="1"/>
          <p:nvPr/>
        </p:nvSpPr>
        <p:spPr>
          <a:xfrm>
            <a:off x="2203704" y="1874520"/>
            <a:ext cx="1417320" cy="1280160"/>
          </a:xfrm>
          <a:prstGeom prst="rect">
            <a:avLst/>
          </a:prstGeom>
          <a:noFill/>
          <a:ln/>
        </p:spPr>
        <p:txBody>
          <a:bodyPr wrap="square" lIns="0" tIns="0" rIns="0" bIns="0" rtlCol="0" anchor="t"/>
          <a:lstStyle/>
          <a:p>
            <a:pPr indent="0" marL="0">
              <a:buNone/>
            </a:pPr>
            <a:r>
              <a:rPr lang="en-US" sz="1300" dirty="0">
                <a:solidFill>
                  <a:srgbClr val="1F2933"/>
                </a:solidFill>
              </a:rPr>
              <a:t>Hsinchu Science Park (1980); rise of electronics; factories relocate to China</a:t>
            </a:r>
            <a:endParaRPr lang="en-US" sz="1300" dirty="0"/>
          </a:p>
        </p:txBody>
      </p:sp>
      <p:sp>
        <p:nvSpPr>
          <p:cNvPr id="14" name="Crisis1"/>
          <p:cNvSpPr/>
          <p:nvPr/>
        </p:nvSpPr>
        <p:spPr>
          <a:xfrm>
            <a:off x="2112264" y="3264408"/>
            <a:ext cx="1600200" cy="777240"/>
          </a:xfrm>
          <a:prstGeom prst="rect">
            <a:avLst/>
          </a:prstGeom>
          <a:solidFill>
            <a:srgbClr val="FBE9DB"/>
          </a:solidFill>
          <a:ln/>
        </p:spPr>
      </p:sp>
      <p:sp>
        <p:nvSpPr>
          <p:cNvPr id="15" name="Text 13"/>
          <p:cNvSpPr txBox="1"/>
          <p:nvPr/>
        </p:nvSpPr>
        <p:spPr>
          <a:xfrm>
            <a:off x="2203704" y="3264408"/>
            <a:ext cx="1417320" cy="777240"/>
          </a:xfrm>
          <a:prstGeom prst="rect">
            <a:avLst/>
          </a:prstGeom>
          <a:noFill/>
          <a:ln/>
        </p:spPr>
        <p:txBody>
          <a:bodyPr wrap="square" lIns="0" tIns="0" rIns="0" bIns="0" rtlCol="0" anchor="ctr"/>
          <a:lstStyle/>
          <a:p>
            <a:pPr indent="0" marL="0">
              <a:buNone/>
            </a:pPr>
            <a:r>
              <a:rPr lang="en-US" sz="1200" b="1" dirty="0">
                <a:solidFill>
                  <a:srgbClr val="7A3B10"/>
                </a:solidFill>
              </a:rPr>
              <a:t>Shock: </a:t>
            </a:r>
            <a:pPr indent="0" marL="0">
              <a:buNone/>
            </a:pPr>
            <a:r>
              <a:rPr lang="en-US" sz="1200" dirty="0">
                <a:solidFill>
                  <a:srgbClr val="7A3B10"/>
                </a:solidFill>
              </a:rPr>
              <a:t>NT$ appreciation 1985–87</a:t>
            </a:r>
            <a:endParaRPr lang="en-US" sz="1200" dirty="0"/>
          </a:p>
        </p:txBody>
      </p:sp>
      <p:sp>
        <p:nvSpPr>
          <p:cNvPr id="16" name="Era2"/>
          <p:cNvSpPr/>
          <p:nvPr/>
        </p:nvSpPr>
        <p:spPr>
          <a:xfrm>
            <a:off x="3767328" y="1371600"/>
            <a:ext cx="1600200" cy="457200"/>
          </a:xfrm>
          <a:prstGeom prst="rect">
            <a:avLst/>
          </a:prstGeom>
          <a:solidFill>
            <a:srgbClr val="9CC9EC"/>
          </a:solidFill>
          <a:ln/>
        </p:spPr>
      </p:sp>
      <p:sp>
        <p:nvSpPr>
          <p:cNvPr id="17" name="Text 15"/>
          <p:cNvSpPr txBox="1"/>
          <p:nvPr/>
        </p:nvSpPr>
        <p:spPr>
          <a:xfrm>
            <a:off x="3767328" y="1371600"/>
            <a:ext cx="1600200" cy="457200"/>
          </a:xfrm>
          <a:prstGeom prst="rect">
            <a:avLst/>
          </a:prstGeom>
          <a:noFill/>
          <a:ln/>
        </p:spPr>
        <p:txBody>
          <a:bodyPr wrap="square" lIns="0" tIns="0" rIns="0" bIns="0" rtlCol="0" anchor="ctr"/>
          <a:lstStyle/>
          <a:p>
            <a:pPr algn="ctr" indent="0" marL="0">
              <a:buNone/>
            </a:pPr>
            <a:r>
              <a:rPr lang="en-US" sz="1600" b="1" dirty="0">
                <a:solidFill>
                  <a:srgbClr val="1F4E79"/>
                </a:solidFill>
              </a:rPr>
              <a:t>1990s</a:t>
            </a:r>
            <a:endParaRPr lang="en-US" sz="1600" dirty="0"/>
          </a:p>
        </p:txBody>
      </p:sp>
      <p:sp>
        <p:nvSpPr>
          <p:cNvPr id="18" name="EraBody2"/>
          <p:cNvSpPr/>
          <p:nvPr/>
        </p:nvSpPr>
        <p:spPr>
          <a:xfrm>
            <a:off x="3767328" y="1828800"/>
            <a:ext cx="1600200" cy="1371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9" name="Text 17"/>
          <p:cNvSpPr txBox="1"/>
          <p:nvPr/>
        </p:nvSpPr>
        <p:spPr>
          <a:xfrm>
            <a:off x="3858768" y="1874520"/>
            <a:ext cx="1417320" cy="1280160"/>
          </a:xfrm>
          <a:prstGeom prst="rect">
            <a:avLst/>
          </a:prstGeom>
          <a:noFill/>
          <a:ln/>
        </p:spPr>
        <p:txBody>
          <a:bodyPr wrap="square" lIns="0" tIns="0" rIns="0" bIns="0" rtlCol="0" anchor="t"/>
          <a:lstStyle/>
          <a:p>
            <a:pPr indent="0" marL="0">
              <a:buNone/>
            </a:pPr>
            <a:r>
              <a:rPr lang="en-US" sz="1300" dirty="0">
                <a:solidFill>
                  <a:srgbClr val="1F2933"/>
                </a:solidFill>
              </a:rPr>
              <a:t>Making PCs and chips for other brands; services grow</a:t>
            </a:r>
            <a:endParaRPr lang="en-US" sz="1300" dirty="0"/>
          </a:p>
        </p:txBody>
      </p:sp>
      <p:sp>
        <p:nvSpPr>
          <p:cNvPr id="20" name="Crisis2"/>
          <p:cNvSpPr/>
          <p:nvPr/>
        </p:nvSpPr>
        <p:spPr>
          <a:xfrm>
            <a:off x="3767328" y="3264408"/>
            <a:ext cx="1600200" cy="777240"/>
          </a:xfrm>
          <a:prstGeom prst="rect">
            <a:avLst/>
          </a:prstGeom>
          <a:solidFill>
            <a:srgbClr val="FBE9DB"/>
          </a:solidFill>
          <a:ln/>
        </p:spPr>
      </p:sp>
      <p:sp>
        <p:nvSpPr>
          <p:cNvPr id="21" name="Text 19"/>
          <p:cNvSpPr txBox="1"/>
          <p:nvPr/>
        </p:nvSpPr>
        <p:spPr>
          <a:xfrm>
            <a:off x="3858768" y="3264408"/>
            <a:ext cx="1417320" cy="777240"/>
          </a:xfrm>
          <a:prstGeom prst="rect">
            <a:avLst/>
          </a:prstGeom>
          <a:noFill/>
          <a:ln/>
        </p:spPr>
        <p:txBody>
          <a:bodyPr wrap="square" lIns="0" tIns="0" rIns="0" bIns="0" rtlCol="0" anchor="ctr"/>
          <a:lstStyle/>
          <a:p>
            <a:pPr indent="0" marL="0">
              <a:buNone/>
            </a:pPr>
            <a:r>
              <a:rPr lang="en-US" sz="1200" b="1" dirty="0">
                <a:solidFill>
                  <a:srgbClr val="7A3B10"/>
                </a:solidFill>
              </a:rPr>
              <a:t>Shock: </a:t>
            </a:r>
            <a:pPr indent="0" marL="0">
              <a:buNone/>
            </a:pPr>
            <a:r>
              <a:rPr lang="en-US" sz="1200" dirty="0">
                <a:solidFill>
                  <a:srgbClr val="7A3B10"/>
                </a:solidFill>
              </a:rPr>
              <a:t>Asian crisis 1997 (resilient)</a:t>
            </a:r>
            <a:endParaRPr lang="en-US" sz="1200" dirty="0"/>
          </a:p>
        </p:txBody>
      </p:sp>
      <p:sp>
        <p:nvSpPr>
          <p:cNvPr id="22" name="Era3"/>
          <p:cNvSpPr/>
          <p:nvPr/>
        </p:nvSpPr>
        <p:spPr>
          <a:xfrm>
            <a:off x="5422392" y="1371600"/>
            <a:ext cx="1600200" cy="457200"/>
          </a:xfrm>
          <a:prstGeom prst="rect">
            <a:avLst/>
          </a:prstGeom>
          <a:solidFill>
            <a:srgbClr val="9CC9EC"/>
          </a:solidFill>
          <a:ln/>
        </p:spPr>
      </p:sp>
      <p:sp>
        <p:nvSpPr>
          <p:cNvPr id="23" name="Text 21"/>
          <p:cNvSpPr txBox="1"/>
          <p:nvPr/>
        </p:nvSpPr>
        <p:spPr>
          <a:xfrm>
            <a:off x="5422392" y="1371600"/>
            <a:ext cx="1600200" cy="457200"/>
          </a:xfrm>
          <a:prstGeom prst="rect">
            <a:avLst/>
          </a:prstGeom>
          <a:noFill/>
          <a:ln/>
        </p:spPr>
        <p:txBody>
          <a:bodyPr wrap="square" lIns="0" tIns="0" rIns="0" bIns="0" rtlCol="0" anchor="ctr"/>
          <a:lstStyle/>
          <a:p>
            <a:pPr algn="ctr" indent="0" marL="0">
              <a:buNone/>
            </a:pPr>
            <a:r>
              <a:rPr lang="en-US" sz="1600" b="1" dirty="0">
                <a:solidFill>
                  <a:srgbClr val="1F4E79"/>
                </a:solidFill>
              </a:rPr>
              <a:t>2000s</a:t>
            </a:r>
            <a:endParaRPr lang="en-US" sz="1600" dirty="0"/>
          </a:p>
        </p:txBody>
      </p:sp>
      <p:sp>
        <p:nvSpPr>
          <p:cNvPr id="24" name="EraBody3"/>
          <p:cNvSpPr/>
          <p:nvPr/>
        </p:nvSpPr>
        <p:spPr>
          <a:xfrm>
            <a:off x="5422392" y="1828800"/>
            <a:ext cx="1600200" cy="1371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5" name="Text 23"/>
          <p:cNvSpPr txBox="1"/>
          <p:nvPr/>
        </p:nvSpPr>
        <p:spPr>
          <a:xfrm>
            <a:off x="5513832" y="1874520"/>
            <a:ext cx="1417320" cy="1280160"/>
          </a:xfrm>
          <a:prstGeom prst="rect">
            <a:avLst/>
          </a:prstGeom>
          <a:noFill/>
          <a:ln/>
        </p:spPr>
        <p:txBody>
          <a:bodyPr wrap="square" lIns="0" tIns="0" rIns="0" bIns="0" rtlCol="0" anchor="t"/>
          <a:lstStyle/>
          <a:p>
            <a:pPr indent="0" marL="0">
              <a:buNone/>
            </a:pPr>
            <a:r>
              <a:rPr lang="en-US" sz="1300" dirty="0">
                <a:solidFill>
                  <a:srgbClr val="1F2933"/>
                </a:solidFill>
              </a:rPr>
              <a:t>'Design in Taiwan, make in China'</a:t>
            </a:r>
            <a:endParaRPr lang="en-US" sz="1300" dirty="0"/>
          </a:p>
        </p:txBody>
      </p:sp>
      <p:sp>
        <p:nvSpPr>
          <p:cNvPr id="26" name="Crisis3"/>
          <p:cNvSpPr/>
          <p:nvPr/>
        </p:nvSpPr>
        <p:spPr>
          <a:xfrm>
            <a:off x="5422392" y="3264408"/>
            <a:ext cx="1600200" cy="777240"/>
          </a:xfrm>
          <a:prstGeom prst="rect">
            <a:avLst/>
          </a:prstGeom>
          <a:solidFill>
            <a:srgbClr val="FBE9DB"/>
          </a:solidFill>
          <a:ln/>
        </p:spPr>
      </p:sp>
      <p:sp>
        <p:nvSpPr>
          <p:cNvPr id="27" name="Text 25"/>
          <p:cNvSpPr txBox="1"/>
          <p:nvPr/>
        </p:nvSpPr>
        <p:spPr>
          <a:xfrm>
            <a:off x="5513832" y="3264408"/>
            <a:ext cx="1417320" cy="777240"/>
          </a:xfrm>
          <a:prstGeom prst="rect">
            <a:avLst/>
          </a:prstGeom>
          <a:noFill/>
          <a:ln/>
        </p:spPr>
        <p:txBody>
          <a:bodyPr wrap="square" lIns="0" tIns="0" rIns="0" bIns="0" rtlCol="0" anchor="ctr"/>
          <a:lstStyle/>
          <a:p>
            <a:pPr indent="0" marL="0">
              <a:buNone/>
            </a:pPr>
            <a:r>
              <a:rPr lang="en-US" sz="1200" b="1" dirty="0">
                <a:solidFill>
                  <a:srgbClr val="7A3B10"/>
                </a:solidFill>
              </a:rPr>
              <a:t>Shock: </a:t>
            </a:r>
            <a:pPr indent="0" marL="0">
              <a:buNone/>
            </a:pPr>
            <a:r>
              <a:rPr lang="en-US" sz="1200" dirty="0">
                <a:solidFill>
                  <a:srgbClr val="7A3B10"/>
                </a:solidFill>
              </a:rPr>
              <a:t>Dot-com crash 2001; Global financial crisis 2008–09</a:t>
            </a:r>
            <a:endParaRPr lang="en-US" sz="1200" dirty="0"/>
          </a:p>
        </p:txBody>
      </p:sp>
      <p:sp>
        <p:nvSpPr>
          <p:cNvPr id="28" name="Era4"/>
          <p:cNvSpPr/>
          <p:nvPr/>
        </p:nvSpPr>
        <p:spPr>
          <a:xfrm>
            <a:off x="7077456" y="1371600"/>
            <a:ext cx="1600200" cy="457200"/>
          </a:xfrm>
          <a:prstGeom prst="rect">
            <a:avLst/>
          </a:prstGeom>
          <a:solidFill>
            <a:srgbClr val="F8B878"/>
          </a:solidFill>
          <a:ln/>
        </p:spPr>
      </p:sp>
      <p:sp>
        <p:nvSpPr>
          <p:cNvPr id="29" name="Text 27"/>
          <p:cNvSpPr txBox="1"/>
          <p:nvPr/>
        </p:nvSpPr>
        <p:spPr>
          <a:xfrm>
            <a:off x="7077456" y="1371600"/>
            <a:ext cx="1600200" cy="457200"/>
          </a:xfrm>
          <a:prstGeom prst="rect">
            <a:avLst/>
          </a:prstGeom>
          <a:noFill/>
          <a:ln/>
        </p:spPr>
        <p:txBody>
          <a:bodyPr wrap="square" lIns="0" tIns="0" rIns="0" bIns="0" rtlCol="0" anchor="ctr"/>
          <a:lstStyle/>
          <a:p>
            <a:pPr algn="ctr" indent="0" marL="0">
              <a:buNone/>
            </a:pPr>
            <a:r>
              <a:rPr lang="en-US" sz="1600" b="1" dirty="0">
                <a:solidFill>
                  <a:srgbClr val="1F4E79"/>
                </a:solidFill>
              </a:rPr>
              <a:t>2010s–now</a:t>
            </a:r>
            <a:endParaRPr lang="en-US" sz="1600" dirty="0"/>
          </a:p>
        </p:txBody>
      </p:sp>
      <p:sp>
        <p:nvSpPr>
          <p:cNvPr id="30" name="EraBody4"/>
          <p:cNvSpPr/>
          <p:nvPr/>
        </p:nvSpPr>
        <p:spPr>
          <a:xfrm>
            <a:off x="7077456" y="1828800"/>
            <a:ext cx="1600200" cy="1371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31" name="Text 29"/>
          <p:cNvSpPr txBox="1"/>
          <p:nvPr/>
        </p:nvSpPr>
        <p:spPr>
          <a:xfrm>
            <a:off x="7168896" y="1874520"/>
            <a:ext cx="1417320" cy="1280160"/>
          </a:xfrm>
          <a:prstGeom prst="rect">
            <a:avLst/>
          </a:prstGeom>
          <a:noFill/>
          <a:ln/>
        </p:spPr>
        <p:txBody>
          <a:bodyPr wrap="square" lIns="0" tIns="0" rIns="0" bIns="0" rtlCol="0" anchor="t"/>
          <a:lstStyle/>
          <a:p>
            <a:pPr indent="0" marL="0">
              <a:buNone/>
            </a:pPr>
            <a:r>
              <a:rPr lang="en-US" sz="1300" dirty="0">
                <a:solidFill>
                  <a:srgbClr val="1F2933"/>
                </a:solidFill>
              </a:rPr>
              <a:t>Smartphones, AI chips; New Southbound &amp; reshoring</a:t>
            </a:r>
            <a:endParaRPr lang="en-US" sz="1300" dirty="0"/>
          </a:p>
        </p:txBody>
      </p:sp>
      <p:sp>
        <p:nvSpPr>
          <p:cNvPr id="32" name="Crisis4"/>
          <p:cNvSpPr/>
          <p:nvPr/>
        </p:nvSpPr>
        <p:spPr>
          <a:xfrm>
            <a:off x="7077456" y="3264408"/>
            <a:ext cx="1600200" cy="777240"/>
          </a:xfrm>
          <a:prstGeom prst="rect">
            <a:avLst/>
          </a:prstGeom>
          <a:solidFill>
            <a:srgbClr val="FBE9DB"/>
          </a:solidFill>
          <a:ln/>
        </p:spPr>
      </p:sp>
      <p:sp>
        <p:nvSpPr>
          <p:cNvPr id="33" name="Text 31"/>
          <p:cNvSpPr txBox="1"/>
          <p:nvPr/>
        </p:nvSpPr>
        <p:spPr>
          <a:xfrm>
            <a:off x="7168896" y="3264408"/>
            <a:ext cx="1417320" cy="777240"/>
          </a:xfrm>
          <a:prstGeom prst="rect">
            <a:avLst/>
          </a:prstGeom>
          <a:noFill/>
          <a:ln/>
        </p:spPr>
        <p:txBody>
          <a:bodyPr wrap="square" lIns="0" tIns="0" rIns="0" bIns="0" rtlCol="0" anchor="ctr"/>
          <a:lstStyle/>
          <a:p>
            <a:pPr indent="0" marL="0">
              <a:buNone/>
            </a:pPr>
            <a:r>
              <a:rPr lang="en-US" sz="1200" b="1" dirty="0">
                <a:solidFill>
                  <a:srgbClr val="7A3B10"/>
                </a:solidFill>
              </a:rPr>
              <a:t>Shock: </a:t>
            </a:r>
            <a:pPr indent="0" marL="0">
              <a:buNone/>
            </a:pPr>
            <a:r>
              <a:rPr lang="en-US" sz="1200" dirty="0">
                <a:solidFill>
                  <a:srgbClr val="7A3B10"/>
                </a:solidFill>
              </a:rPr>
              <a:t>US–China trade war; COVID</a:t>
            </a:r>
            <a:endParaRPr lang="en-US" sz="1200" dirty="0"/>
          </a:p>
        </p:txBody>
      </p:sp>
      <p:sp>
        <p:nvSpPr>
          <p:cNvPr id="34" name="Verdict"/>
          <p:cNvSpPr/>
          <p:nvPr/>
        </p:nvSpPr>
        <p:spPr>
          <a:xfrm>
            <a:off x="457200" y="4160520"/>
            <a:ext cx="8229600" cy="640080"/>
          </a:xfrm>
          <a:prstGeom prst="roundRect">
            <a:avLst>
              <a:gd name="adj" fmla="val 11429"/>
            </a:avLst>
          </a:prstGeom>
          <a:solidFill>
            <a:srgbClr val="FBD3A8"/>
          </a:solidFill>
          <a:ln/>
        </p:spPr>
      </p:sp>
      <p:sp>
        <p:nvSpPr>
          <p:cNvPr id="35" name="Text 33"/>
          <p:cNvSpPr txBox="1"/>
          <p:nvPr/>
        </p:nvSpPr>
        <p:spPr>
          <a:xfrm>
            <a:off x="640080" y="4160520"/>
            <a:ext cx="7863840" cy="640080"/>
          </a:xfrm>
          <a:prstGeom prst="rect">
            <a:avLst/>
          </a:prstGeom>
          <a:noFill/>
          <a:ln/>
        </p:spPr>
        <p:txBody>
          <a:bodyPr wrap="square" lIns="0" tIns="0" rIns="0" bIns="0" rtlCol="0" anchor="ctr"/>
          <a:lstStyle/>
          <a:p>
            <a:pPr indent="0" marL="0">
              <a:buNone/>
            </a:pPr>
            <a:r>
              <a:rPr lang="en-US" sz="1400" b="1" dirty="0">
                <a:solidFill>
                  <a:srgbClr val="B8560F"/>
                </a:solidFill>
              </a:rPr>
              <a:t>Shift: </a:t>
            </a:r>
            <a:pPr indent="0" marL="0">
              <a:buNone/>
            </a:pPr>
            <a:r>
              <a:rPr lang="en-US" sz="1400" dirty="0">
                <a:solidFill>
                  <a:srgbClr val="1F2933"/>
                </a:solidFill>
              </a:rPr>
              <a:t>agriculture (~15% of GDP in 1970 → ~2%) → light industry → electronics → knowledge-intensive chips. New path? Yes, but narrow.</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3F86C4"/>
                </a:solidFill>
                <a:latin typeface="Calibri" pitchFamily="34" charset="0"/>
                <a:ea typeface="Calibri" pitchFamily="34" charset="-122"/>
                <a:cs typeface="Calibri" pitchFamily="34" charset="-120"/>
              </a:rPr>
              <a:t>Q3 · HAS THE ECONOMY MOVED ONTO A NEW GROWTH PATH?</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Taiwan has a new growth path, but a narrow one</a:t>
            </a:r>
            <a:endParaRPr lang="en-US" sz="2600" dirty="0"/>
          </a:p>
        </p:txBody>
      </p:sp>
      <p:sp>
        <p:nvSpPr>
          <p:cNvPr id="4" name="Yes: a real new path"/>
          <p:cNvSpPr/>
          <p:nvPr/>
        </p:nvSpPr>
        <p:spPr>
          <a:xfrm>
            <a:off x="457200" y="1371600"/>
            <a:ext cx="3566160" cy="34290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5" name="Yes: a real new pathDot"/>
          <p:cNvSpPr/>
          <p:nvPr/>
        </p:nvSpPr>
        <p:spPr>
          <a:xfrm>
            <a:off x="685800" y="1508760"/>
            <a:ext cx="457200" cy="457200"/>
          </a:xfrm>
          <a:prstGeom prst="ellipse">
            <a:avLst/>
          </a:prstGeom>
          <a:solidFill>
            <a:srgbClr val="3F86C4"/>
          </a:solidFill>
          <a:ln/>
        </p:spPr>
      </p:sp>
      <p:sp>
        <p:nvSpPr>
          <p:cNvPr id="6" name="Text 4"/>
          <p:cNvSpPr txBox="1"/>
          <p:nvPr/>
        </p:nvSpPr>
        <p:spPr>
          <a:xfrm>
            <a:off x="685800" y="1508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7" name="Text 5"/>
          <p:cNvSpPr txBox="1"/>
          <p:nvPr/>
        </p:nvSpPr>
        <p:spPr>
          <a:xfrm>
            <a:off x="1280160" y="1508760"/>
            <a:ext cx="2560320" cy="457200"/>
          </a:xfrm>
          <a:prstGeom prst="rect">
            <a:avLst/>
          </a:prstGeom>
          <a:noFill/>
          <a:ln/>
        </p:spPr>
        <p:txBody>
          <a:bodyPr wrap="square" lIns="0" tIns="0" rIns="0" bIns="0" rtlCol="0" anchor="ctr"/>
          <a:lstStyle/>
          <a:p>
            <a:pPr indent="0" marL="0">
              <a:buNone/>
            </a:pPr>
            <a:r>
              <a:rPr lang="en-US" sz="2000" b="1" dirty="0">
                <a:solidFill>
                  <a:srgbClr val="3F86C4"/>
                </a:solidFill>
                <a:latin typeface="Cambria" pitchFamily="34" charset="0"/>
                <a:ea typeface="Cambria" pitchFamily="34" charset="-122"/>
                <a:cs typeface="Cambria" pitchFamily="34" charset="-120"/>
              </a:rPr>
              <a:t>Yes: a real new path</a:t>
            </a:r>
            <a:endParaRPr lang="en-US" sz="2000" dirty="0"/>
          </a:p>
        </p:txBody>
      </p:sp>
      <p:sp>
        <p:nvSpPr>
          <p:cNvPr id="8" name="Text 6"/>
          <p:cNvSpPr txBox="1"/>
          <p:nvPr/>
        </p:nvSpPr>
        <p:spPr>
          <a:xfrm>
            <a:off x="685800" y="2148840"/>
            <a:ext cx="3108960" cy="2560320"/>
          </a:xfrm>
          <a:prstGeom prst="rect">
            <a:avLst/>
          </a:prstGeom>
          <a:noFill/>
          <a:ln/>
        </p:spPr>
        <p:txBody>
          <a:bodyPr wrap="square" lIns="0" tIns="0" rIns="0" bIns="0" rtlCol="0" anchor="t"/>
          <a:lstStyle/>
          <a:p>
            <a:pPr marL="342900" indent="-342900">
              <a:buSzPct val="100000"/>
              <a:buChar char="•"/>
            </a:pPr>
            <a:r>
              <a:rPr lang="en-US" sz="1300" b="1" dirty="0">
                <a:solidFill>
                  <a:srgbClr val="1F2933"/>
                </a:solidFill>
              </a:rPr>
              <a:t>Structural shift. </a:t>
            </a:r>
            <a:pPr indent="0" marL="0">
              <a:spcAft>
                <a:spcPts val="800"/>
              </a:spcAft>
              <a:buNone/>
            </a:pPr>
            <a:r>
              <a:rPr lang="en-US" sz="1300" dirty="0">
                <a:solidFill>
                  <a:srgbClr val="1F2933"/>
                </a:solidFill>
              </a:rPr>
              <a:t>From farming and cheap labour-intensive goods to high-tech chips and electronics.</a:t>
            </a:r>
            <a:endParaRPr lang="en-US" sz="1300" dirty="0"/>
          </a:p>
          <a:p>
            <a:pPr marL="342900" indent="-342900">
              <a:buSzPct val="100000"/>
              <a:buChar char="•"/>
            </a:pPr>
            <a:r>
              <a:rPr lang="en-US" sz="1300" b="1" dirty="0">
                <a:solidFill>
                  <a:srgbClr val="1F2933"/>
                </a:solidFill>
              </a:rPr>
              <a:t>Higher output. </a:t>
            </a:r>
            <a:pPr indent="0" marL="0">
              <a:spcAft>
                <a:spcPts val="800"/>
              </a:spcAft>
              <a:buNone/>
            </a:pPr>
            <a:r>
              <a:rPr lang="en-US" sz="1300" dirty="0">
                <a:solidFill>
                  <a:srgbClr val="1F2933"/>
                </a:solidFill>
              </a:rPr>
              <a:t>Output per worker and incomes rose sharply; TSMC and its suppliers now drive growth and exports.</a:t>
            </a:r>
            <a:endParaRPr lang="en-US" sz="1300" dirty="0"/>
          </a:p>
          <a:p>
            <a:pPr marL="342900" indent="-342900">
              <a:buSzPct val="100000"/>
              <a:buChar char="•"/>
            </a:pPr>
            <a:r>
              <a:rPr lang="en-US" sz="1300" b="1" dirty="0">
                <a:solidFill>
                  <a:srgbClr val="1F2933"/>
                </a:solidFill>
              </a:rPr>
              <a:t>Resilient. </a:t>
            </a:r>
            <a:pPr indent="0" marL="0">
              <a:spcAft>
                <a:spcPts val="800"/>
              </a:spcAft>
              <a:buNone/>
            </a:pPr>
            <a:r>
              <a:rPr lang="en-US" sz="1300" dirty="0">
                <a:solidFill>
                  <a:srgbClr val="1F2933"/>
                </a:solidFill>
              </a:rPr>
              <a:t>Taiwan bounced back from big shocks (oil crises, a stronger currency, the 2001 and 2008 downturns) and kept growing, so the change is lasting.</a:t>
            </a:r>
            <a:endParaRPr lang="en-US" sz="1300" dirty="0"/>
          </a:p>
        </p:txBody>
      </p:sp>
      <p:sp>
        <p:nvSpPr>
          <p:cNvPr id="9" name="But narrow"/>
          <p:cNvSpPr/>
          <p:nvPr/>
        </p:nvSpPr>
        <p:spPr>
          <a:xfrm>
            <a:off x="4206240" y="1371600"/>
            <a:ext cx="4480560" cy="34290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0" name="But narrowDot"/>
          <p:cNvSpPr/>
          <p:nvPr/>
        </p:nvSpPr>
        <p:spPr>
          <a:xfrm>
            <a:off x="4434840" y="1508760"/>
            <a:ext cx="457200" cy="457200"/>
          </a:xfrm>
          <a:prstGeom prst="ellipse">
            <a:avLst/>
          </a:prstGeom>
          <a:solidFill>
            <a:srgbClr val="D9701F"/>
          </a:solidFill>
          <a:ln/>
        </p:spPr>
      </p:sp>
      <p:sp>
        <p:nvSpPr>
          <p:cNvPr id="11" name="Text 9"/>
          <p:cNvSpPr txBox="1"/>
          <p:nvPr/>
        </p:nvSpPr>
        <p:spPr>
          <a:xfrm>
            <a:off x="4434840" y="1508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2" name="Text 10"/>
          <p:cNvSpPr txBox="1"/>
          <p:nvPr/>
        </p:nvSpPr>
        <p:spPr>
          <a:xfrm>
            <a:off x="5029200" y="1508760"/>
            <a:ext cx="3474720" cy="457200"/>
          </a:xfrm>
          <a:prstGeom prst="rect">
            <a:avLst/>
          </a:prstGeom>
          <a:noFill/>
          <a:ln/>
        </p:spPr>
        <p:txBody>
          <a:bodyPr wrap="square" lIns="0" tIns="0" rIns="0" bIns="0" rtlCol="0" anchor="ctr"/>
          <a:lstStyle/>
          <a:p>
            <a:pPr indent="0" marL="0">
              <a:buNone/>
            </a:pPr>
            <a:r>
              <a:rPr lang="en-US" sz="2000" b="1" dirty="0">
                <a:solidFill>
                  <a:srgbClr val="D9701F"/>
                </a:solidFill>
                <a:latin typeface="Cambria" pitchFamily="34" charset="0"/>
                <a:ea typeface="Cambria" pitchFamily="34" charset="-122"/>
                <a:cs typeface="Cambria" pitchFamily="34" charset="-120"/>
              </a:rPr>
              <a:t>But narrow</a:t>
            </a:r>
            <a:endParaRPr lang="en-US" sz="2000" dirty="0"/>
          </a:p>
        </p:txBody>
      </p:sp>
      <p:sp>
        <p:nvSpPr>
          <p:cNvPr id="13" name="Text 11"/>
          <p:cNvSpPr txBox="1"/>
          <p:nvPr/>
        </p:nvSpPr>
        <p:spPr>
          <a:xfrm>
            <a:off x="4434840" y="2148840"/>
            <a:ext cx="4023360" cy="2560320"/>
          </a:xfrm>
          <a:prstGeom prst="rect">
            <a:avLst/>
          </a:prstGeom>
          <a:noFill/>
          <a:ln/>
        </p:spPr>
        <p:txBody>
          <a:bodyPr wrap="square" lIns="0" tIns="0" rIns="0" bIns="0" rtlCol="0" anchor="t"/>
          <a:lstStyle/>
          <a:p>
            <a:pPr marL="342900" indent="-342900">
              <a:buSzPct val="100000"/>
              <a:buChar char="•"/>
            </a:pPr>
            <a:r>
              <a:rPr lang="en-US" sz="1300" b="1" dirty="0">
                <a:solidFill>
                  <a:srgbClr val="1F2933"/>
                </a:solidFill>
              </a:rPr>
              <a:t>One sector. </a:t>
            </a:r>
            <a:pPr indent="0" marL="0">
              <a:spcAft>
                <a:spcPts val="800"/>
              </a:spcAft>
              <a:buNone/>
            </a:pPr>
            <a:r>
              <a:rPr lang="en-US" sz="1300" dirty="0">
                <a:solidFill>
                  <a:srgbClr val="1F2933"/>
                </a:solidFill>
              </a:rPr>
              <a:t>Chips and electronics are a large share of exports and growth; a sector downturn or US–China conflict would hit everything.</a:t>
            </a:r>
            <a:endParaRPr lang="en-US" sz="1300" dirty="0"/>
          </a:p>
          <a:p>
            <a:pPr marL="342900" indent="-342900">
              <a:buSzPct val="100000"/>
              <a:buChar char="•"/>
            </a:pPr>
            <a:r>
              <a:rPr lang="en-US" sz="1300" b="1" dirty="0">
                <a:solidFill>
                  <a:srgbClr val="1F2933"/>
                </a:solidFill>
              </a:rPr>
              <a:t>Few firms. </a:t>
            </a:r>
            <a:pPr indent="0" marL="0">
              <a:spcAft>
                <a:spcPts val="800"/>
              </a:spcAft>
              <a:buNone/>
            </a:pPr>
            <a:r>
              <a:rPr lang="en-US" sz="1300" dirty="0">
                <a:solidFill>
                  <a:srgbClr val="1F2933"/>
                </a:solidFill>
              </a:rPr>
              <a:t>A handful of big chip firms capture most of the gains; most workers are at small firms where pay and productivity lag. This split is called a dual economy.</a:t>
            </a:r>
            <a:endParaRPr lang="en-US" sz="1300" dirty="0"/>
          </a:p>
          <a:p>
            <a:pPr marL="342900" indent="-342900">
              <a:buSzPct val="100000"/>
              <a:buChar char="•"/>
            </a:pPr>
            <a:r>
              <a:rPr lang="en-US" sz="1300" b="1" dirty="0">
                <a:solidFill>
                  <a:srgbClr val="1F2933"/>
                </a:solidFill>
              </a:rPr>
              <a:t>Few regions. </a:t>
            </a:r>
            <a:pPr indent="0" marL="0">
              <a:spcAft>
                <a:spcPts val="800"/>
              </a:spcAft>
              <a:buNone/>
            </a:pPr>
            <a:r>
              <a:rPr lang="en-US" sz="1300" dirty="0">
                <a:solidFill>
                  <a:srgbClr val="1F2933"/>
                </a:solidFill>
              </a:rPr>
              <a:t>Growth clusters in the Hsinchu–Taipei–Taichung corridor; rural and southern areas lag.</a:t>
            </a:r>
            <a:endParaRPr lang="en-US" sz="1300" dirty="0"/>
          </a:p>
          <a:p>
            <a:pPr marL="342900" indent="-342900">
              <a:buSzPct val="100000"/>
              <a:buChar char="•"/>
            </a:pPr>
            <a:r>
              <a:rPr lang="en-US" sz="1300" b="1" dirty="0">
                <a:solidFill>
                  <a:srgbClr val="1F2933"/>
                </a:solidFill>
              </a:rPr>
              <a:t>Few new industries. </a:t>
            </a:r>
            <a:pPr indent="0" marL="0">
              <a:spcAft>
                <a:spcPts val="800"/>
              </a:spcAft>
              <a:buNone/>
            </a:pPr>
            <a:r>
              <a:rPr lang="en-US" sz="1300" dirty="0">
                <a:solidFill>
                  <a:srgbClr val="1F2933"/>
                </a:solidFill>
              </a:rPr>
              <a:t>Biotech, green energy and AI services are still small next to chips.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3F86C4"/>
                </a:solidFill>
                <a:latin typeface="Calibri" pitchFamily="34" charset="0"/>
                <a:ea typeface="Calibri" pitchFamily="34" charset="-122"/>
                <a:cs typeface="Calibri" pitchFamily="34" charset="-120"/>
              </a:rPr>
              <a:t>Q4 · POLICY AND LOCAL IMPACT</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Regional policy: national, top-down, uneven</a:t>
            </a:r>
            <a:endParaRPr lang="en-US" sz="2600" dirty="0"/>
          </a:p>
        </p:txBody>
      </p:sp>
      <p:sp>
        <p:nvSpPr>
          <p:cNvPr id="4" name="Policy0"/>
          <p:cNvSpPr/>
          <p:nvPr/>
        </p:nvSpPr>
        <p:spPr>
          <a:xfrm>
            <a:off x="457200" y="1371600"/>
            <a:ext cx="4023360" cy="2743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5" name="Text 3"/>
          <p:cNvSpPr txBox="1"/>
          <p:nvPr/>
        </p:nvSpPr>
        <p:spPr>
          <a:xfrm>
            <a:off x="685800" y="1508760"/>
            <a:ext cx="3566160" cy="457200"/>
          </a:xfrm>
          <a:prstGeom prst="rect">
            <a:avLst/>
          </a:prstGeom>
          <a:noFill/>
          <a:ln/>
        </p:spPr>
        <p:txBody>
          <a:bodyPr wrap="square" lIns="0" tIns="0" rIns="0" bIns="0" rtlCol="0" anchor="ctr"/>
          <a:lstStyle/>
          <a:p>
            <a:pPr indent="0" marL="0">
              <a:buNone/>
            </a:pPr>
            <a:r>
              <a:rPr lang="en-US" sz="2000" b="1" dirty="0">
                <a:solidFill>
                  <a:srgbClr val="3F86C4"/>
                </a:solidFill>
                <a:latin typeface="Cambria" pitchFamily="34" charset="0"/>
                <a:ea typeface="Cambria" pitchFamily="34" charset="-122"/>
                <a:cs typeface="Cambria" pitchFamily="34" charset="-120"/>
              </a:rPr>
              <a:t>Industrial &amp; spatial</a:t>
            </a:r>
            <a:endParaRPr lang="en-US" sz="2000" dirty="0"/>
          </a:p>
        </p:txBody>
      </p:sp>
      <p:sp>
        <p:nvSpPr>
          <p:cNvPr id="6" name="Text 4"/>
          <p:cNvSpPr txBox="1"/>
          <p:nvPr/>
        </p:nvSpPr>
        <p:spPr>
          <a:xfrm>
            <a:off x="685800" y="2057400"/>
            <a:ext cx="3566160" cy="1097280"/>
          </a:xfrm>
          <a:prstGeom prst="rect">
            <a:avLst/>
          </a:prstGeom>
          <a:noFill/>
          <a:ln/>
        </p:spPr>
        <p:txBody>
          <a:bodyPr wrap="square" lIns="0" tIns="0" rIns="0" bIns="0" rtlCol="0" anchor="t"/>
          <a:lstStyle/>
          <a:p>
            <a:pPr indent="0" marL="0">
              <a:buNone/>
            </a:pPr>
            <a:r>
              <a:rPr lang="en-US" sz="1400" dirty="0">
                <a:solidFill>
                  <a:srgbClr val="1F2933"/>
                </a:solidFill>
              </a:rPr>
              <a:t>Export processing zones (1966); Hsinchu (1980), Southern (1996) and Central (2003) Science Parks; Ten Major Construction</a:t>
            </a:r>
            <a:endParaRPr lang="en-US" sz="1400" dirty="0"/>
          </a:p>
        </p:txBody>
      </p:sp>
      <p:sp>
        <p:nvSpPr>
          <p:cNvPr id="7" name="Text 5"/>
          <p:cNvSpPr txBox="1"/>
          <p:nvPr/>
        </p:nvSpPr>
        <p:spPr>
          <a:xfrm>
            <a:off x="685800" y="3291840"/>
            <a:ext cx="3566160" cy="685800"/>
          </a:xfrm>
          <a:prstGeom prst="rect">
            <a:avLst/>
          </a:prstGeom>
          <a:noFill/>
          <a:ln/>
        </p:spPr>
        <p:txBody>
          <a:bodyPr wrap="square" lIns="0" tIns="0" rIns="0" bIns="0" rtlCol="0" anchor="t"/>
          <a:lstStyle/>
          <a:p>
            <a:pPr indent="0" marL="0">
              <a:buNone/>
            </a:pPr>
            <a:r>
              <a:rPr lang="en-US" sz="1400" b="1" dirty="0">
                <a:solidFill>
                  <a:srgbClr val="7A3B10"/>
                </a:solidFill>
              </a:rPr>
              <a:t>Impact: </a:t>
            </a:r>
            <a:pPr indent="0" marL="0">
              <a:buNone/>
            </a:pPr>
            <a:r>
              <a:rPr lang="en-US" sz="1400" dirty="0">
                <a:solidFill>
                  <a:srgbClr val="7A3B10"/>
                </a:solidFill>
              </a:rPr>
              <a:t>Created high-tech clusters; strong north–west corridor</a:t>
            </a:r>
            <a:endParaRPr lang="en-US" sz="1400" dirty="0"/>
          </a:p>
        </p:txBody>
      </p:sp>
      <p:sp>
        <p:nvSpPr>
          <p:cNvPr id="8" name="Policy1"/>
          <p:cNvSpPr/>
          <p:nvPr/>
        </p:nvSpPr>
        <p:spPr>
          <a:xfrm>
            <a:off x="4663440" y="1371600"/>
            <a:ext cx="4023360" cy="2743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9" name="Text 7"/>
          <p:cNvSpPr txBox="1"/>
          <p:nvPr/>
        </p:nvSpPr>
        <p:spPr>
          <a:xfrm>
            <a:off x="4892040" y="1508760"/>
            <a:ext cx="3566160" cy="457200"/>
          </a:xfrm>
          <a:prstGeom prst="rect">
            <a:avLst/>
          </a:prstGeom>
          <a:noFill/>
          <a:ln/>
        </p:spPr>
        <p:txBody>
          <a:bodyPr wrap="square" lIns="0" tIns="0" rIns="0" bIns="0" rtlCol="0" anchor="ctr"/>
          <a:lstStyle/>
          <a:p>
            <a:pPr indent="0" marL="0">
              <a:buNone/>
            </a:pPr>
            <a:r>
              <a:rPr lang="en-US" sz="2000" b="1" dirty="0">
                <a:solidFill>
                  <a:srgbClr val="3F86C4"/>
                </a:solidFill>
                <a:latin typeface="Cambria" pitchFamily="34" charset="0"/>
                <a:ea typeface="Cambria" pitchFamily="34" charset="-122"/>
                <a:cs typeface="Cambria" pitchFamily="34" charset="-120"/>
              </a:rPr>
              <a:t>Regional revitalization</a:t>
            </a:r>
            <a:endParaRPr lang="en-US" sz="2000" dirty="0"/>
          </a:p>
        </p:txBody>
      </p:sp>
      <p:sp>
        <p:nvSpPr>
          <p:cNvPr id="10" name="Text 8"/>
          <p:cNvSpPr txBox="1"/>
          <p:nvPr/>
        </p:nvSpPr>
        <p:spPr>
          <a:xfrm>
            <a:off x="4892040" y="2057400"/>
            <a:ext cx="3566160" cy="1097280"/>
          </a:xfrm>
          <a:prstGeom prst="rect">
            <a:avLst/>
          </a:prstGeom>
          <a:noFill/>
          <a:ln/>
        </p:spPr>
        <p:txBody>
          <a:bodyPr wrap="square" lIns="0" tIns="0" rIns="0" bIns="0" rtlCol="0" anchor="t"/>
          <a:lstStyle/>
          <a:p>
            <a:pPr indent="0" marL="0">
              <a:buNone/>
            </a:pPr>
            <a:r>
              <a:rPr lang="en-US" sz="1400" dirty="0">
                <a:solidFill>
                  <a:srgbClr val="1F2933"/>
                </a:solidFill>
              </a:rPr>
              <a:t>Local Revitalization (2019): tackle depopulation, support local brands &amp; youth return</a:t>
            </a:r>
            <a:endParaRPr lang="en-US" sz="1400" dirty="0"/>
          </a:p>
        </p:txBody>
      </p:sp>
      <p:sp>
        <p:nvSpPr>
          <p:cNvPr id="11" name="Text 9"/>
          <p:cNvSpPr txBox="1"/>
          <p:nvPr/>
        </p:nvSpPr>
        <p:spPr>
          <a:xfrm>
            <a:off x="4892040" y="3291840"/>
            <a:ext cx="3566160" cy="685800"/>
          </a:xfrm>
          <a:prstGeom prst="rect">
            <a:avLst/>
          </a:prstGeom>
          <a:noFill/>
          <a:ln/>
        </p:spPr>
        <p:txBody>
          <a:bodyPr wrap="square" lIns="0" tIns="0" rIns="0" bIns="0" rtlCol="0" anchor="t"/>
          <a:lstStyle/>
          <a:p>
            <a:pPr indent="0" marL="0">
              <a:buNone/>
            </a:pPr>
            <a:r>
              <a:rPr lang="en-US" sz="1400" b="1" dirty="0">
                <a:solidFill>
                  <a:srgbClr val="7A3B10"/>
                </a:solidFill>
              </a:rPr>
              <a:t>Impact: </a:t>
            </a:r>
            <a:pPr indent="0" marL="0">
              <a:buNone/>
            </a:pPr>
            <a:r>
              <a:rPr lang="en-US" sz="1400" dirty="0">
                <a:solidFill>
                  <a:srgbClr val="7A3B10"/>
                </a:solidFill>
              </a:rPr>
              <a:t>Early stage; mixed results</a:t>
            </a:r>
            <a:endParaRPr lang="en-US" sz="1400" dirty="0"/>
          </a:p>
        </p:txBody>
      </p:sp>
      <p:sp>
        <p:nvSpPr>
          <p:cNvPr id="12" name="PolicyNote"/>
          <p:cNvSpPr/>
          <p:nvPr/>
        </p:nvSpPr>
        <p:spPr>
          <a:xfrm>
            <a:off x="457200" y="4251960"/>
            <a:ext cx="8229600" cy="548640"/>
          </a:xfrm>
          <a:prstGeom prst="roundRect">
            <a:avLst>
              <a:gd name="adj" fmla="val 13333"/>
            </a:avLst>
          </a:prstGeom>
          <a:solidFill>
            <a:srgbClr val="FBD3A8"/>
          </a:solidFill>
          <a:ln/>
        </p:spPr>
      </p:sp>
      <p:sp>
        <p:nvSpPr>
          <p:cNvPr id="13" name="Text 11"/>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400" dirty="0">
                <a:solidFill>
                  <a:srgbClr val="1F2933"/>
                </a:solidFill>
              </a:rPr>
              <a:t>Result: growth poles in Hsinchu, Taipei and Taichung, but a persistent north–south and urban–rural gap.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3F86C4"/>
                </a:solidFill>
                <a:latin typeface="Calibri" pitchFamily="34" charset="0"/>
                <a:ea typeface="Calibri" pitchFamily="34" charset="-122"/>
                <a:cs typeface="Calibri" pitchFamily="34" charset="-120"/>
              </a:rPr>
              <a:t>PART 2 · ASSESSING DEVELOPMENT OUTCOMES</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Assessing outcomes: who drove new paths</a:t>
            </a:r>
            <a:endParaRPr lang="en-US" sz="2600" dirty="0"/>
          </a:p>
        </p:txBody>
      </p:sp>
      <p:sp>
        <p:nvSpPr>
          <p:cNvPr id="4" name="Card0"/>
          <p:cNvSpPr/>
          <p:nvPr/>
        </p:nvSpPr>
        <p:spPr>
          <a:xfrm>
            <a:off x="457200" y="1371600"/>
            <a:ext cx="2606040" cy="1600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5" name="Num0"/>
          <p:cNvSpPr/>
          <p:nvPr/>
        </p:nvSpPr>
        <p:spPr>
          <a:xfrm>
            <a:off x="566928" y="1481328"/>
            <a:ext cx="310896" cy="310896"/>
          </a:xfrm>
          <a:prstGeom prst="ellipse">
            <a:avLst/>
          </a:prstGeom>
          <a:solidFill>
            <a:srgbClr val="F8B878"/>
          </a:solidFill>
          <a:ln/>
        </p:spPr>
      </p:sp>
      <p:sp>
        <p:nvSpPr>
          <p:cNvPr id="6" name="Text 4"/>
          <p:cNvSpPr txBox="1"/>
          <p:nvPr/>
        </p:nvSpPr>
        <p:spPr>
          <a:xfrm>
            <a:off x="566928" y="1481328"/>
            <a:ext cx="310896" cy="310896"/>
          </a:xfrm>
          <a:prstGeom prst="rect">
            <a:avLst/>
          </a:prstGeom>
          <a:noFill/>
          <a:ln/>
        </p:spPr>
        <p:txBody>
          <a:bodyPr wrap="square" lIns="0" tIns="0" rIns="0" bIns="0" rtlCol="0" anchor="ctr"/>
          <a:lstStyle/>
          <a:p>
            <a:pPr algn="ctr" indent="0" marL="0">
              <a:buNone/>
            </a:pPr>
            <a:r>
              <a:rPr lang="en-US" sz="1200" b="1" dirty="0">
                <a:solidFill>
                  <a:srgbClr val="1F2933"/>
                </a:solidFill>
              </a:rPr>
              <a:t>1</a:t>
            </a:r>
            <a:endParaRPr lang="en-US" sz="1200" dirty="0"/>
          </a:p>
        </p:txBody>
      </p:sp>
      <p:sp>
        <p:nvSpPr>
          <p:cNvPr id="7" name="Text 5"/>
          <p:cNvSpPr txBox="1"/>
          <p:nvPr/>
        </p:nvSpPr>
        <p:spPr>
          <a:xfrm>
            <a:off x="960120" y="1463040"/>
            <a:ext cx="2011680" cy="347472"/>
          </a:xfrm>
          <a:prstGeom prst="rect">
            <a:avLst/>
          </a:prstGeom>
          <a:noFill/>
          <a:ln/>
        </p:spPr>
        <p:txBody>
          <a:bodyPr wrap="square" lIns="0" tIns="0" rIns="0" bIns="0" rtlCol="0" anchor="ctr"/>
          <a:lstStyle/>
          <a:p>
            <a:pPr indent="0" marL="0">
              <a:buNone/>
            </a:pPr>
            <a:r>
              <a:rPr lang="en-US" sz="1400" b="1" dirty="0">
                <a:solidFill>
                  <a:srgbClr val="1F4E79"/>
                </a:solidFill>
              </a:rPr>
              <a:t>New paths pursued?</a:t>
            </a:r>
            <a:endParaRPr lang="en-US" sz="1400" dirty="0"/>
          </a:p>
        </p:txBody>
      </p:sp>
      <p:sp>
        <p:nvSpPr>
          <p:cNvPr id="8" name="Text 6"/>
          <p:cNvSpPr txBox="1"/>
          <p:nvPr/>
        </p:nvSpPr>
        <p:spPr>
          <a:xfrm>
            <a:off x="566928" y="1874520"/>
            <a:ext cx="2395728" cy="1051560"/>
          </a:xfrm>
          <a:prstGeom prst="rect">
            <a:avLst/>
          </a:prstGeom>
          <a:noFill/>
          <a:ln/>
        </p:spPr>
        <p:txBody>
          <a:bodyPr wrap="square" lIns="0" tIns="0" rIns="0" bIns="0" rtlCol="0" anchor="t"/>
          <a:lstStyle/>
          <a:p>
            <a:pPr indent="0" marL="0">
              <a:buNone/>
            </a:pPr>
            <a:r>
              <a:rPr lang="en-US" sz="1200" dirty="0">
                <a:solidFill>
                  <a:srgbClr val="1F2933"/>
                </a:solidFill>
              </a:rPr>
              <a:t>Yes: electronics (1970s–80s), then foundry/fabless chips (1987→), now AI &amp; green energy. Largely successful.</a:t>
            </a:r>
            <a:endParaRPr lang="en-US" sz="1200" dirty="0"/>
          </a:p>
        </p:txBody>
      </p:sp>
      <p:sp>
        <p:nvSpPr>
          <p:cNvPr id="9" name="Card1"/>
          <p:cNvSpPr/>
          <p:nvPr/>
        </p:nvSpPr>
        <p:spPr>
          <a:xfrm>
            <a:off x="3264408" y="1371600"/>
            <a:ext cx="2606040" cy="1600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0" name="Num1"/>
          <p:cNvSpPr/>
          <p:nvPr/>
        </p:nvSpPr>
        <p:spPr>
          <a:xfrm>
            <a:off x="3374136" y="1481328"/>
            <a:ext cx="310896" cy="310896"/>
          </a:xfrm>
          <a:prstGeom prst="ellipse">
            <a:avLst/>
          </a:prstGeom>
          <a:solidFill>
            <a:srgbClr val="F8B878"/>
          </a:solidFill>
          <a:ln/>
        </p:spPr>
      </p:sp>
      <p:sp>
        <p:nvSpPr>
          <p:cNvPr id="11" name="Text 9"/>
          <p:cNvSpPr txBox="1"/>
          <p:nvPr/>
        </p:nvSpPr>
        <p:spPr>
          <a:xfrm>
            <a:off x="3374136" y="1481328"/>
            <a:ext cx="310896" cy="310896"/>
          </a:xfrm>
          <a:prstGeom prst="rect">
            <a:avLst/>
          </a:prstGeom>
          <a:noFill/>
          <a:ln/>
        </p:spPr>
        <p:txBody>
          <a:bodyPr wrap="square" lIns="0" tIns="0" rIns="0" bIns="0" rtlCol="0" anchor="ctr"/>
          <a:lstStyle/>
          <a:p>
            <a:pPr algn="ctr" indent="0" marL="0">
              <a:buNone/>
            </a:pPr>
            <a:r>
              <a:rPr lang="en-US" sz="1200" b="1" dirty="0">
                <a:solidFill>
                  <a:srgbClr val="1F2933"/>
                </a:solidFill>
              </a:rPr>
              <a:t>2</a:t>
            </a:r>
            <a:endParaRPr lang="en-US" sz="1200" dirty="0"/>
          </a:p>
        </p:txBody>
      </p:sp>
      <p:sp>
        <p:nvSpPr>
          <p:cNvPr id="12" name="Text 10"/>
          <p:cNvSpPr txBox="1"/>
          <p:nvPr/>
        </p:nvSpPr>
        <p:spPr>
          <a:xfrm>
            <a:off x="3767328" y="1463040"/>
            <a:ext cx="2011680" cy="347472"/>
          </a:xfrm>
          <a:prstGeom prst="rect">
            <a:avLst/>
          </a:prstGeom>
          <a:noFill/>
          <a:ln/>
        </p:spPr>
        <p:txBody>
          <a:bodyPr wrap="square" lIns="0" tIns="0" rIns="0" bIns="0" rtlCol="0" anchor="ctr"/>
          <a:lstStyle/>
          <a:p>
            <a:pPr indent="0" marL="0">
              <a:buNone/>
            </a:pPr>
            <a:r>
              <a:rPr lang="en-US" sz="1400" b="1" dirty="0">
                <a:solidFill>
                  <a:srgbClr val="1F4E79"/>
                </a:solidFill>
              </a:rPr>
              <a:t>Who led?</a:t>
            </a:r>
            <a:endParaRPr lang="en-US" sz="1400" dirty="0"/>
          </a:p>
        </p:txBody>
      </p:sp>
      <p:sp>
        <p:nvSpPr>
          <p:cNvPr id="13" name="Text 11"/>
          <p:cNvSpPr txBox="1"/>
          <p:nvPr/>
        </p:nvSpPr>
        <p:spPr>
          <a:xfrm>
            <a:off x="3374136" y="1874520"/>
            <a:ext cx="2395728" cy="1051560"/>
          </a:xfrm>
          <a:prstGeom prst="rect">
            <a:avLst/>
          </a:prstGeom>
          <a:noFill/>
          <a:ln/>
        </p:spPr>
        <p:txBody>
          <a:bodyPr wrap="square" lIns="0" tIns="0" rIns="0" bIns="0" rtlCol="0" anchor="t"/>
          <a:lstStyle/>
          <a:p>
            <a:pPr indent="0" marL="0">
              <a:buNone/>
            </a:pPr>
            <a:r>
              <a:rPr lang="en-US" sz="1200" dirty="0">
                <a:solidFill>
                  <a:srgbClr val="1F2933"/>
                </a:solidFill>
              </a:rPr>
              <a:t>National government (state research institute, central planning agency) – no EU-style body; local councils secondary.</a:t>
            </a:r>
            <a:endParaRPr lang="en-US" sz="1200" dirty="0"/>
          </a:p>
        </p:txBody>
      </p:sp>
      <p:sp>
        <p:nvSpPr>
          <p:cNvPr id="14" name="Card2"/>
          <p:cNvSpPr/>
          <p:nvPr/>
        </p:nvSpPr>
        <p:spPr>
          <a:xfrm>
            <a:off x="6071616" y="1371600"/>
            <a:ext cx="2606040" cy="1600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5" name="Num2"/>
          <p:cNvSpPr/>
          <p:nvPr/>
        </p:nvSpPr>
        <p:spPr>
          <a:xfrm>
            <a:off x="6181344" y="1481328"/>
            <a:ext cx="310896" cy="310896"/>
          </a:xfrm>
          <a:prstGeom prst="ellipse">
            <a:avLst/>
          </a:prstGeom>
          <a:solidFill>
            <a:srgbClr val="F8B878"/>
          </a:solidFill>
          <a:ln/>
        </p:spPr>
      </p:sp>
      <p:sp>
        <p:nvSpPr>
          <p:cNvPr id="16" name="Text 14"/>
          <p:cNvSpPr txBox="1"/>
          <p:nvPr/>
        </p:nvSpPr>
        <p:spPr>
          <a:xfrm>
            <a:off x="6181344" y="1481328"/>
            <a:ext cx="310896" cy="310896"/>
          </a:xfrm>
          <a:prstGeom prst="rect">
            <a:avLst/>
          </a:prstGeom>
          <a:noFill/>
          <a:ln/>
        </p:spPr>
        <p:txBody>
          <a:bodyPr wrap="square" lIns="0" tIns="0" rIns="0" bIns="0" rtlCol="0" anchor="ctr"/>
          <a:lstStyle/>
          <a:p>
            <a:pPr algn="ctr" indent="0" marL="0">
              <a:buNone/>
            </a:pPr>
            <a:r>
              <a:rPr lang="en-US" sz="1200" b="1" dirty="0">
                <a:solidFill>
                  <a:srgbClr val="1F2933"/>
                </a:solidFill>
              </a:rPr>
              <a:t>3</a:t>
            </a:r>
            <a:endParaRPr lang="en-US" sz="1200" dirty="0"/>
          </a:p>
        </p:txBody>
      </p:sp>
      <p:sp>
        <p:nvSpPr>
          <p:cNvPr id="17" name="Text 15"/>
          <p:cNvSpPr txBox="1"/>
          <p:nvPr/>
        </p:nvSpPr>
        <p:spPr>
          <a:xfrm>
            <a:off x="6574536" y="1463040"/>
            <a:ext cx="2011680" cy="347472"/>
          </a:xfrm>
          <a:prstGeom prst="rect">
            <a:avLst/>
          </a:prstGeom>
          <a:noFill/>
          <a:ln/>
        </p:spPr>
        <p:txBody>
          <a:bodyPr wrap="square" lIns="0" tIns="0" rIns="0" bIns="0" rtlCol="0" anchor="ctr"/>
          <a:lstStyle/>
          <a:p>
            <a:pPr indent="0" marL="0">
              <a:buNone/>
            </a:pPr>
            <a:r>
              <a:rPr lang="en-US" sz="1400" b="1" dirty="0">
                <a:solidFill>
                  <a:srgbClr val="1F4E79"/>
                </a:solidFill>
              </a:rPr>
              <a:t>What sparked it?</a:t>
            </a:r>
            <a:endParaRPr lang="en-US" sz="1400" dirty="0"/>
          </a:p>
        </p:txBody>
      </p:sp>
      <p:sp>
        <p:nvSpPr>
          <p:cNvPr id="18" name="Text 16"/>
          <p:cNvSpPr txBox="1"/>
          <p:nvPr/>
        </p:nvSpPr>
        <p:spPr>
          <a:xfrm>
            <a:off x="6181344" y="1874520"/>
            <a:ext cx="2395728" cy="1051560"/>
          </a:xfrm>
          <a:prstGeom prst="rect">
            <a:avLst/>
          </a:prstGeom>
          <a:noFill/>
          <a:ln/>
        </p:spPr>
        <p:txBody>
          <a:bodyPr wrap="square" lIns="0" tIns="0" rIns="0" bIns="0" rtlCol="0" anchor="t"/>
          <a:lstStyle/>
          <a:p>
            <a:pPr indent="0" marL="0">
              <a:buNone/>
            </a:pPr>
            <a:r>
              <a:rPr lang="en-US" sz="1200" dirty="0">
                <a:solidFill>
                  <a:srgbClr val="1F2933"/>
                </a:solidFill>
              </a:rPr>
              <a:t>Hsinchu Science Park + spin-offs from the state research institute (first chip maker UMC 1980, TSMC 1987); returnee engineers from Silicon Valley.</a:t>
            </a:r>
            <a:endParaRPr lang="en-US" sz="1200" dirty="0"/>
          </a:p>
        </p:txBody>
      </p:sp>
      <p:sp>
        <p:nvSpPr>
          <p:cNvPr id="19" name="Card3"/>
          <p:cNvSpPr/>
          <p:nvPr/>
        </p:nvSpPr>
        <p:spPr>
          <a:xfrm>
            <a:off x="457200" y="3108960"/>
            <a:ext cx="2606040" cy="1600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0" name="Num3"/>
          <p:cNvSpPr/>
          <p:nvPr/>
        </p:nvSpPr>
        <p:spPr>
          <a:xfrm>
            <a:off x="566928" y="3218688"/>
            <a:ext cx="310896" cy="310896"/>
          </a:xfrm>
          <a:prstGeom prst="ellipse">
            <a:avLst/>
          </a:prstGeom>
          <a:solidFill>
            <a:srgbClr val="F8B878"/>
          </a:solidFill>
          <a:ln/>
        </p:spPr>
      </p:sp>
      <p:sp>
        <p:nvSpPr>
          <p:cNvPr id="21" name="Text 19"/>
          <p:cNvSpPr txBox="1"/>
          <p:nvPr/>
        </p:nvSpPr>
        <p:spPr>
          <a:xfrm>
            <a:off x="566928" y="3218688"/>
            <a:ext cx="310896" cy="310896"/>
          </a:xfrm>
          <a:prstGeom prst="rect">
            <a:avLst/>
          </a:prstGeom>
          <a:noFill/>
          <a:ln/>
        </p:spPr>
        <p:txBody>
          <a:bodyPr wrap="square" lIns="0" tIns="0" rIns="0" bIns="0" rtlCol="0" anchor="ctr"/>
          <a:lstStyle/>
          <a:p>
            <a:pPr algn="ctr" indent="0" marL="0">
              <a:buNone/>
            </a:pPr>
            <a:r>
              <a:rPr lang="en-US" sz="1200" b="1" dirty="0">
                <a:solidFill>
                  <a:srgbClr val="1F2933"/>
                </a:solidFill>
              </a:rPr>
              <a:t>4</a:t>
            </a:r>
            <a:endParaRPr lang="en-US" sz="1200" dirty="0"/>
          </a:p>
        </p:txBody>
      </p:sp>
      <p:sp>
        <p:nvSpPr>
          <p:cNvPr id="22" name="Text 20"/>
          <p:cNvSpPr txBox="1"/>
          <p:nvPr/>
        </p:nvSpPr>
        <p:spPr>
          <a:xfrm>
            <a:off x="960120" y="3200400"/>
            <a:ext cx="2011680" cy="347472"/>
          </a:xfrm>
          <a:prstGeom prst="rect">
            <a:avLst/>
          </a:prstGeom>
          <a:noFill/>
          <a:ln/>
        </p:spPr>
        <p:txBody>
          <a:bodyPr wrap="square" lIns="0" tIns="0" rIns="0" bIns="0" rtlCol="0" anchor="ctr"/>
          <a:lstStyle/>
          <a:p>
            <a:pPr indent="0" marL="0">
              <a:buNone/>
            </a:pPr>
            <a:r>
              <a:rPr lang="en-US" sz="1400" b="1" dirty="0">
                <a:solidFill>
                  <a:srgbClr val="1F4E79"/>
                </a:solidFill>
              </a:rPr>
              <a:t>Inside or outside?</a:t>
            </a:r>
            <a:endParaRPr lang="en-US" sz="1400" dirty="0"/>
          </a:p>
        </p:txBody>
      </p:sp>
      <p:sp>
        <p:nvSpPr>
          <p:cNvPr id="23" name="Text 21"/>
          <p:cNvSpPr txBox="1"/>
          <p:nvPr/>
        </p:nvSpPr>
        <p:spPr>
          <a:xfrm>
            <a:off x="566928" y="3611880"/>
            <a:ext cx="2395728" cy="1051560"/>
          </a:xfrm>
          <a:prstGeom prst="rect">
            <a:avLst/>
          </a:prstGeom>
          <a:noFill/>
          <a:ln/>
        </p:spPr>
        <p:txBody>
          <a:bodyPr wrap="square" lIns="0" tIns="0" rIns="0" bIns="0" rtlCol="0" anchor="t"/>
          <a:lstStyle/>
          <a:p>
            <a:pPr indent="0" marL="0">
              <a:buNone/>
            </a:pPr>
            <a:r>
              <a:rPr lang="en-US" sz="1200" dirty="0">
                <a:solidFill>
                  <a:srgbClr val="1F2933"/>
                </a:solidFill>
              </a:rPr>
              <a:t>Both: state-led from within, with US technology and markets and Taiwanese talent and money from abroad.</a:t>
            </a:r>
            <a:endParaRPr lang="en-US" sz="1200" dirty="0"/>
          </a:p>
        </p:txBody>
      </p:sp>
      <p:sp>
        <p:nvSpPr>
          <p:cNvPr id="24" name="Card4"/>
          <p:cNvSpPr/>
          <p:nvPr/>
        </p:nvSpPr>
        <p:spPr>
          <a:xfrm>
            <a:off x="3264408" y="3108960"/>
            <a:ext cx="2606040" cy="1600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5" name="Num4"/>
          <p:cNvSpPr/>
          <p:nvPr/>
        </p:nvSpPr>
        <p:spPr>
          <a:xfrm>
            <a:off x="3374136" y="3218688"/>
            <a:ext cx="310896" cy="310896"/>
          </a:xfrm>
          <a:prstGeom prst="ellipse">
            <a:avLst/>
          </a:prstGeom>
          <a:solidFill>
            <a:srgbClr val="F8B878"/>
          </a:solidFill>
          <a:ln/>
        </p:spPr>
      </p:sp>
      <p:sp>
        <p:nvSpPr>
          <p:cNvPr id="26" name="Text 24"/>
          <p:cNvSpPr txBox="1"/>
          <p:nvPr/>
        </p:nvSpPr>
        <p:spPr>
          <a:xfrm>
            <a:off x="3374136" y="3218688"/>
            <a:ext cx="310896" cy="310896"/>
          </a:xfrm>
          <a:prstGeom prst="rect">
            <a:avLst/>
          </a:prstGeom>
          <a:noFill/>
          <a:ln/>
        </p:spPr>
        <p:txBody>
          <a:bodyPr wrap="square" lIns="0" tIns="0" rIns="0" bIns="0" rtlCol="0" anchor="ctr"/>
          <a:lstStyle/>
          <a:p>
            <a:pPr algn="ctr" indent="0" marL="0">
              <a:buNone/>
            </a:pPr>
            <a:r>
              <a:rPr lang="en-US" sz="1200" b="1" dirty="0">
                <a:solidFill>
                  <a:srgbClr val="1F2933"/>
                </a:solidFill>
              </a:rPr>
              <a:t>5</a:t>
            </a:r>
            <a:endParaRPr lang="en-US" sz="1200" dirty="0"/>
          </a:p>
        </p:txBody>
      </p:sp>
      <p:sp>
        <p:nvSpPr>
          <p:cNvPr id="27" name="Text 25"/>
          <p:cNvSpPr txBox="1"/>
          <p:nvPr/>
        </p:nvSpPr>
        <p:spPr>
          <a:xfrm>
            <a:off x="3767328" y="3200400"/>
            <a:ext cx="2011680" cy="347472"/>
          </a:xfrm>
          <a:prstGeom prst="rect">
            <a:avLst/>
          </a:prstGeom>
          <a:noFill/>
          <a:ln/>
        </p:spPr>
        <p:txBody>
          <a:bodyPr wrap="square" lIns="0" tIns="0" rIns="0" bIns="0" rtlCol="0" anchor="ctr"/>
          <a:lstStyle/>
          <a:p>
            <a:pPr indent="0" marL="0">
              <a:buNone/>
            </a:pPr>
            <a:r>
              <a:rPr lang="en-US" sz="1400" b="1" dirty="0">
                <a:solidFill>
                  <a:srgbClr val="1F4E79"/>
                </a:solidFill>
              </a:rPr>
              <a:t>Endogenous role</a:t>
            </a:r>
            <a:endParaRPr lang="en-US" sz="1400" dirty="0"/>
          </a:p>
        </p:txBody>
      </p:sp>
      <p:sp>
        <p:nvSpPr>
          <p:cNvPr id="28" name="Text 26"/>
          <p:cNvSpPr txBox="1"/>
          <p:nvPr/>
        </p:nvSpPr>
        <p:spPr>
          <a:xfrm>
            <a:off x="3374136" y="3611880"/>
            <a:ext cx="2395728" cy="1051560"/>
          </a:xfrm>
          <a:prstGeom prst="rect">
            <a:avLst/>
          </a:prstGeom>
          <a:noFill/>
          <a:ln/>
        </p:spPr>
        <p:txBody>
          <a:bodyPr wrap="square" lIns="0" tIns="0" rIns="0" bIns="0" rtlCol="0" anchor="t"/>
          <a:lstStyle/>
          <a:p>
            <a:pPr indent="0" marL="0">
              <a:buNone/>
            </a:pPr>
            <a:r>
              <a:rPr lang="en-US" sz="1200" dirty="0">
                <a:solidFill>
                  <a:srgbClr val="1F2933"/>
                </a:solidFill>
              </a:rPr>
              <a:t>Family-run small businesses, 'living-room factories', clusters (Taichung machine tools), community action, local governments.</a:t>
            </a:r>
            <a:endParaRPr lang="en-US" sz="1200" dirty="0"/>
          </a:p>
        </p:txBody>
      </p:sp>
      <p:sp>
        <p:nvSpPr>
          <p:cNvPr id="29" name="Card5"/>
          <p:cNvSpPr/>
          <p:nvPr/>
        </p:nvSpPr>
        <p:spPr>
          <a:xfrm>
            <a:off x="6071616" y="3108960"/>
            <a:ext cx="2606040" cy="16002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30" name="Num5"/>
          <p:cNvSpPr/>
          <p:nvPr/>
        </p:nvSpPr>
        <p:spPr>
          <a:xfrm>
            <a:off x="6181344" y="3218688"/>
            <a:ext cx="310896" cy="310896"/>
          </a:xfrm>
          <a:prstGeom prst="ellipse">
            <a:avLst/>
          </a:prstGeom>
          <a:solidFill>
            <a:srgbClr val="F8B878"/>
          </a:solidFill>
          <a:ln/>
        </p:spPr>
      </p:sp>
      <p:sp>
        <p:nvSpPr>
          <p:cNvPr id="31" name="Text 29"/>
          <p:cNvSpPr txBox="1"/>
          <p:nvPr/>
        </p:nvSpPr>
        <p:spPr>
          <a:xfrm>
            <a:off x="6181344" y="3218688"/>
            <a:ext cx="310896" cy="310896"/>
          </a:xfrm>
          <a:prstGeom prst="rect">
            <a:avLst/>
          </a:prstGeom>
          <a:noFill/>
          <a:ln/>
        </p:spPr>
        <p:txBody>
          <a:bodyPr wrap="square" lIns="0" tIns="0" rIns="0" bIns="0" rtlCol="0" anchor="ctr"/>
          <a:lstStyle/>
          <a:p>
            <a:pPr algn="ctr" indent="0" marL="0">
              <a:buNone/>
            </a:pPr>
            <a:r>
              <a:rPr lang="en-US" sz="1200" b="1" dirty="0">
                <a:solidFill>
                  <a:srgbClr val="1F2933"/>
                </a:solidFill>
              </a:rPr>
              <a:t>6</a:t>
            </a:r>
            <a:endParaRPr lang="en-US" sz="1200" dirty="0"/>
          </a:p>
        </p:txBody>
      </p:sp>
      <p:sp>
        <p:nvSpPr>
          <p:cNvPr id="32" name="Text 30"/>
          <p:cNvSpPr txBox="1"/>
          <p:nvPr/>
        </p:nvSpPr>
        <p:spPr>
          <a:xfrm>
            <a:off x="6574536" y="3200400"/>
            <a:ext cx="2011680" cy="347472"/>
          </a:xfrm>
          <a:prstGeom prst="rect">
            <a:avLst/>
          </a:prstGeom>
          <a:noFill/>
          <a:ln/>
        </p:spPr>
        <p:txBody>
          <a:bodyPr wrap="square" lIns="0" tIns="0" rIns="0" bIns="0" rtlCol="0" anchor="ctr"/>
          <a:lstStyle/>
          <a:p>
            <a:pPr indent="0" marL="0">
              <a:buNone/>
            </a:pPr>
            <a:r>
              <a:rPr lang="en-US" sz="1400" b="1" dirty="0">
                <a:solidFill>
                  <a:srgbClr val="1F4E79"/>
                </a:solidFill>
              </a:rPr>
              <a:t>Market forces</a:t>
            </a:r>
            <a:endParaRPr lang="en-US" sz="1400" dirty="0"/>
          </a:p>
        </p:txBody>
      </p:sp>
      <p:sp>
        <p:nvSpPr>
          <p:cNvPr id="33" name="Text 31"/>
          <p:cNvSpPr txBox="1"/>
          <p:nvPr/>
        </p:nvSpPr>
        <p:spPr>
          <a:xfrm>
            <a:off x="6181344" y="3611880"/>
            <a:ext cx="2395728" cy="1051560"/>
          </a:xfrm>
          <a:prstGeom prst="rect">
            <a:avLst/>
          </a:prstGeom>
          <a:noFill/>
          <a:ln/>
        </p:spPr>
        <p:txBody>
          <a:bodyPr wrap="square" lIns="0" tIns="0" rIns="0" bIns="0" rtlCol="0" anchor="t"/>
          <a:lstStyle/>
          <a:p>
            <a:pPr indent="0" marL="0">
              <a:buNone/>
            </a:pPr>
            <a:r>
              <a:rPr lang="en-US" sz="1200" dirty="0">
                <a:solidFill>
                  <a:srgbClr val="1F2933"/>
                </a:solidFill>
              </a:rPr>
              <a:t>Global: US ICT demand, supply-chain shifts. National: credit, tax, R&amp;D. Local: cluster networks.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6E8F7"/>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B8560F"/>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Conclusion: a hybrid development model</a:t>
            </a:r>
            <a:endParaRPr lang="en-US" sz="2600" dirty="0"/>
          </a:p>
        </p:txBody>
      </p:sp>
      <p:sp>
        <p:nvSpPr>
          <p:cNvPr id="4" name="Verdict0"/>
          <p:cNvSpPr/>
          <p:nvPr/>
        </p:nvSpPr>
        <p:spPr>
          <a:xfrm>
            <a:off x="457200" y="1463040"/>
            <a:ext cx="2606040" cy="3200400"/>
          </a:xfrm>
          <a:prstGeom prst="roundRect">
            <a:avLst>
              <a:gd name="adj" fmla="val 2807"/>
            </a:avLst>
          </a:prstGeom>
          <a:solidFill>
            <a:srgbClr val="FFFFFF"/>
          </a:solidFill>
          <a:ln/>
          <a:effectLst>
            <a:outerShdw sx="100000" sy="100000" kx="0" ky="0" algn="bl" rotWithShape="0" blurRad="76200" dist="25400" dir="5400000">
              <a:srgbClr val="000000">
                <a:alpha val="12000"/>
              </a:srgbClr>
            </a:outerShdw>
          </a:effectLst>
        </p:spPr>
      </p:sp>
      <p:sp>
        <p:nvSpPr>
          <p:cNvPr id="5" name="Text 3"/>
          <p:cNvSpPr txBox="1"/>
          <p:nvPr/>
        </p:nvSpPr>
        <p:spPr>
          <a:xfrm>
            <a:off x="640080" y="1600200"/>
            <a:ext cx="2240280" cy="640080"/>
          </a:xfrm>
          <a:prstGeom prst="rect">
            <a:avLst/>
          </a:prstGeom>
          <a:noFill/>
          <a:ln/>
        </p:spPr>
        <p:txBody>
          <a:bodyPr wrap="square" lIns="0" tIns="0" rIns="0" bIns="0" rtlCol="0" anchor="ctr"/>
          <a:lstStyle/>
          <a:p>
            <a:pPr indent="0" marL="0">
              <a:buNone/>
            </a:pPr>
            <a:r>
              <a:rPr lang="en-US" sz="1800" b="1" dirty="0">
                <a:solidFill>
                  <a:srgbClr val="B8560F"/>
                </a:solidFill>
                <a:latin typeface="Cambria" pitchFamily="34" charset="0"/>
                <a:ea typeface="Cambria" pitchFamily="34" charset="-122"/>
                <a:cs typeface="Cambria" pitchFamily="34" charset="-120"/>
              </a:rPr>
              <a:t>Inherited economic systems</a:t>
            </a:r>
            <a:endParaRPr lang="en-US" sz="1800" dirty="0"/>
          </a:p>
        </p:txBody>
      </p:sp>
      <p:sp>
        <p:nvSpPr>
          <p:cNvPr id="6" name="Text 4"/>
          <p:cNvSpPr txBox="1"/>
          <p:nvPr/>
        </p:nvSpPr>
        <p:spPr>
          <a:xfrm>
            <a:off x="640080" y="2331720"/>
            <a:ext cx="2240280" cy="1554480"/>
          </a:xfrm>
          <a:prstGeom prst="rect">
            <a:avLst/>
          </a:prstGeom>
          <a:noFill/>
          <a:ln/>
        </p:spPr>
        <p:txBody>
          <a:bodyPr wrap="square" lIns="0" tIns="0" rIns="0" bIns="0" rtlCol="0" anchor="t"/>
          <a:lstStyle/>
          <a:p>
            <a:pPr indent="0" marL="0">
              <a:buNone/>
            </a:pPr>
            <a:r>
              <a:rPr lang="en-US" sz="1400" dirty="0">
                <a:solidFill>
                  <a:srgbClr val="1F2933"/>
                </a:solidFill>
              </a:rPr>
              <a:t>Japanese-era infrastructure and land reform; capitalism based on small and medium-sized family firms; state-owned enterprises.</a:t>
            </a:r>
            <a:endParaRPr lang="en-US" sz="1400" dirty="0"/>
          </a:p>
        </p:txBody>
      </p:sp>
      <p:sp>
        <p:nvSpPr>
          <p:cNvPr id="7" name="Text 5"/>
          <p:cNvSpPr txBox="1"/>
          <p:nvPr/>
        </p:nvSpPr>
        <p:spPr>
          <a:xfrm>
            <a:off x="640080" y="3977640"/>
            <a:ext cx="2240280" cy="548640"/>
          </a:xfrm>
          <a:prstGeom prst="rect">
            <a:avLst/>
          </a:prstGeom>
          <a:noFill/>
          <a:ln/>
        </p:spPr>
        <p:txBody>
          <a:bodyPr wrap="square" lIns="0" tIns="0" rIns="0" bIns="0" rtlCol="0" anchor="ctr"/>
          <a:lstStyle/>
          <a:p>
            <a:pPr indent="0" marL="0">
              <a:buNone/>
            </a:pPr>
            <a:r>
              <a:rPr lang="en-US" sz="1400" b="1" dirty="0">
                <a:solidFill>
                  <a:srgbClr val="1F4E79"/>
                </a:solidFill>
              </a:rPr>
              <a:t>Influence: </a:t>
            </a:r>
            <a:pPr indent="0" marL="0">
              <a:buNone/>
            </a:pPr>
            <a:r>
              <a:rPr lang="en-US" sz="1400" dirty="0">
                <a:solidFill>
                  <a:srgbClr val="1F2933"/>
                </a:solidFill>
              </a:rPr>
              <a:t>Strong</a:t>
            </a:r>
            <a:endParaRPr lang="en-US" sz="1400" dirty="0"/>
          </a:p>
        </p:txBody>
      </p:sp>
      <p:sp>
        <p:nvSpPr>
          <p:cNvPr id="8" name="Verdict1"/>
          <p:cNvSpPr/>
          <p:nvPr/>
        </p:nvSpPr>
        <p:spPr>
          <a:xfrm>
            <a:off x="3264408" y="1463040"/>
            <a:ext cx="2606040" cy="3200400"/>
          </a:xfrm>
          <a:prstGeom prst="roundRect">
            <a:avLst>
              <a:gd name="adj" fmla="val 2807"/>
            </a:avLst>
          </a:prstGeom>
          <a:solidFill>
            <a:srgbClr val="FFFFFF"/>
          </a:solidFill>
          <a:ln/>
          <a:effectLst>
            <a:outerShdw sx="100000" sy="100000" kx="0" ky="0" algn="bl" rotWithShape="0" blurRad="76200" dist="25400" dir="5400000">
              <a:srgbClr val="000000">
                <a:alpha val="12000"/>
              </a:srgbClr>
            </a:outerShdw>
          </a:effectLst>
        </p:spPr>
      </p:sp>
      <p:sp>
        <p:nvSpPr>
          <p:cNvPr id="9" name="Text 7"/>
          <p:cNvSpPr txBox="1"/>
          <p:nvPr/>
        </p:nvSpPr>
        <p:spPr>
          <a:xfrm>
            <a:off x="3447288" y="1600200"/>
            <a:ext cx="2240280" cy="640080"/>
          </a:xfrm>
          <a:prstGeom prst="rect">
            <a:avLst/>
          </a:prstGeom>
          <a:noFill/>
          <a:ln/>
        </p:spPr>
        <p:txBody>
          <a:bodyPr wrap="square" lIns="0" tIns="0" rIns="0" bIns="0" rtlCol="0" anchor="ctr"/>
          <a:lstStyle/>
          <a:p>
            <a:pPr indent="0" marL="0">
              <a:buNone/>
            </a:pPr>
            <a:r>
              <a:rPr lang="en-US" sz="1800" b="1" dirty="0">
                <a:solidFill>
                  <a:srgbClr val="B8560F"/>
                </a:solidFill>
                <a:latin typeface="Cambria" pitchFamily="34" charset="0"/>
                <a:ea typeface="Cambria" pitchFamily="34" charset="-122"/>
                <a:cs typeface="Cambria" pitchFamily="34" charset="-120"/>
              </a:rPr>
              <a:t>Long-standing social strengths</a:t>
            </a:r>
            <a:endParaRPr lang="en-US" sz="1800" dirty="0"/>
          </a:p>
        </p:txBody>
      </p:sp>
      <p:sp>
        <p:nvSpPr>
          <p:cNvPr id="10" name="Text 8"/>
          <p:cNvSpPr txBox="1"/>
          <p:nvPr/>
        </p:nvSpPr>
        <p:spPr>
          <a:xfrm>
            <a:off x="3447288" y="2331720"/>
            <a:ext cx="2240280" cy="1554480"/>
          </a:xfrm>
          <a:prstGeom prst="rect">
            <a:avLst/>
          </a:prstGeom>
          <a:noFill/>
          <a:ln/>
        </p:spPr>
        <p:txBody>
          <a:bodyPr wrap="square" lIns="0" tIns="0" rIns="0" bIns="0" rtlCol="0" anchor="t"/>
          <a:lstStyle/>
          <a:p>
            <a:pPr indent="0" marL="0">
              <a:buNone/>
            </a:pPr>
            <a:r>
              <a:rPr lang="en-US" sz="1400" dirty="0">
                <a:solidFill>
                  <a:srgbClr val="1F2933"/>
                </a:solidFill>
              </a:rPr>
              <a:t>High education, entrepreneurial networks, returnees from abroad, strong civic and community life.</a:t>
            </a:r>
            <a:endParaRPr lang="en-US" sz="1400" dirty="0"/>
          </a:p>
        </p:txBody>
      </p:sp>
      <p:sp>
        <p:nvSpPr>
          <p:cNvPr id="11" name="Text 9"/>
          <p:cNvSpPr txBox="1"/>
          <p:nvPr/>
        </p:nvSpPr>
        <p:spPr>
          <a:xfrm>
            <a:off x="3447288" y="3977640"/>
            <a:ext cx="2240280" cy="548640"/>
          </a:xfrm>
          <a:prstGeom prst="rect">
            <a:avLst/>
          </a:prstGeom>
          <a:noFill/>
          <a:ln/>
        </p:spPr>
        <p:txBody>
          <a:bodyPr wrap="square" lIns="0" tIns="0" rIns="0" bIns="0" rtlCol="0" anchor="ctr"/>
          <a:lstStyle/>
          <a:p>
            <a:pPr indent="0" marL="0">
              <a:buNone/>
            </a:pPr>
            <a:r>
              <a:rPr lang="en-US" sz="1400" b="1" dirty="0">
                <a:solidFill>
                  <a:srgbClr val="1F4E79"/>
                </a:solidFill>
              </a:rPr>
              <a:t>Influence: </a:t>
            </a:r>
            <a:pPr indent="0" marL="0">
              <a:buNone/>
            </a:pPr>
            <a:r>
              <a:rPr lang="en-US" sz="1400" dirty="0">
                <a:solidFill>
                  <a:srgbClr val="1F2933"/>
                </a:solidFill>
              </a:rPr>
              <a:t>Strong</a:t>
            </a:r>
            <a:endParaRPr lang="en-US" sz="1400" dirty="0"/>
          </a:p>
        </p:txBody>
      </p:sp>
      <p:sp>
        <p:nvSpPr>
          <p:cNvPr id="12" name="Verdict2"/>
          <p:cNvSpPr/>
          <p:nvPr/>
        </p:nvSpPr>
        <p:spPr>
          <a:xfrm>
            <a:off x="6071616" y="1463040"/>
            <a:ext cx="2606040" cy="3200400"/>
          </a:xfrm>
          <a:prstGeom prst="roundRect">
            <a:avLst>
              <a:gd name="adj" fmla="val 2807"/>
            </a:avLst>
          </a:prstGeom>
          <a:solidFill>
            <a:srgbClr val="FFFFFF"/>
          </a:solidFill>
          <a:ln/>
          <a:effectLst>
            <a:outerShdw sx="100000" sy="100000" kx="0" ky="0" algn="bl" rotWithShape="0" blurRad="76200" dist="25400" dir="5400000">
              <a:srgbClr val="000000">
                <a:alpha val="12000"/>
              </a:srgbClr>
            </a:outerShdw>
          </a:effectLst>
        </p:spPr>
      </p:sp>
      <p:sp>
        <p:nvSpPr>
          <p:cNvPr id="13" name="Text 11"/>
          <p:cNvSpPr txBox="1"/>
          <p:nvPr/>
        </p:nvSpPr>
        <p:spPr>
          <a:xfrm>
            <a:off x="6254496" y="1600200"/>
            <a:ext cx="2240280" cy="640080"/>
          </a:xfrm>
          <a:prstGeom prst="rect">
            <a:avLst/>
          </a:prstGeom>
          <a:noFill/>
          <a:ln/>
        </p:spPr>
        <p:txBody>
          <a:bodyPr wrap="square" lIns="0" tIns="0" rIns="0" bIns="0" rtlCol="0" anchor="ctr"/>
          <a:lstStyle/>
          <a:p>
            <a:pPr indent="0" marL="0">
              <a:buNone/>
            </a:pPr>
            <a:r>
              <a:rPr lang="en-US" sz="1800" b="1" dirty="0">
                <a:solidFill>
                  <a:srgbClr val="B8560F"/>
                </a:solidFill>
                <a:latin typeface="Cambria" pitchFamily="34" charset="0"/>
                <a:ea typeface="Cambria" pitchFamily="34" charset="-122"/>
                <a:cs typeface="Cambria" pitchFamily="34" charset="-120"/>
              </a:rPr>
              <a:t>External support</a:t>
            </a:r>
            <a:endParaRPr lang="en-US" sz="1800" dirty="0"/>
          </a:p>
        </p:txBody>
      </p:sp>
      <p:sp>
        <p:nvSpPr>
          <p:cNvPr id="14" name="Text 12"/>
          <p:cNvSpPr txBox="1"/>
          <p:nvPr/>
        </p:nvSpPr>
        <p:spPr>
          <a:xfrm>
            <a:off x="6254496" y="2331720"/>
            <a:ext cx="2240280" cy="1554480"/>
          </a:xfrm>
          <a:prstGeom prst="rect">
            <a:avLst/>
          </a:prstGeom>
          <a:noFill/>
          <a:ln/>
        </p:spPr>
        <p:txBody>
          <a:bodyPr wrap="square" lIns="0" tIns="0" rIns="0" bIns="0" rtlCol="0" anchor="t"/>
          <a:lstStyle/>
          <a:p>
            <a:pPr indent="0" marL="0">
              <a:buNone/>
            </a:pPr>
            <a:r>
              <a:rPr lang="en-US" sz="1400" dirty="0">
                <a:solidFill>
                  <a:srgbClr val="1F2933"/>
                </a:solidFill>
              </a:rPr>
              <a:t>US aid (1951–65), markets and technology; Japanese tools and materials; worldwide demand for computers, phones and chips.</a:t>
            </a:r>
            <a:endParaRPr lang="en-US" sz="1400" dirty="0"/>
          </a:p>
        </p:txBody>
      </p:sp>
      <p:sp>
        <p:nvSpPr>
          <p:cNvPr id="15" name="Text 13"/>
          <p:cNvSpPr txBox="1"/>
          <p:nvPr/>
        </p:nvSpPr>
        <p:spPr>
          <a:xfrm>
            <a:off x="6254496" y="3977640"/>
            <a:ext cx="2240280" cy="548640"/>
          </a:xfrm>
          <a:prstGeom prst="rect">
            <a:avLst/>
          </a:prstGeom>
          <a:noFill/>
          <a:ln/>
        </p:spPr>
        <p:txBody>
          <a:bodyPr wrap="square" lIns="0" tIns="0" rIns="0" bIns="0" rtlCol="0" anchor="ctr"/>
          <a:lstStyle/>
          <a:p>
            <a:pPr indent="0" marL="0">
              <a:buNone/>
            </a:pPr>
            <a:r>
              <a:rPr lang="en-US" sz="1400" b="1" dirty="0">
                <a:solidFill>
                  <a:srgbClr val="1F4E79"/>
                </a:solidFill>
              </a:rPr>
              <a:t>Influence: </a:t>
            </a:r>
            <a:pPr indent="0" marL="0">
              <a:buNone/>
            </a:pPr>
            <a:r>
              <a:rPr lang="en-US" sz="1400" dirty="0">
                <a:solidFill>
                  <a:srgbClr val="1F2933"/>
                </a:solidFill>
              </a:rPr>
              <a:t>Decisive early, conditional now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6E8F7"/>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200" kern="0" dirty="0">
                <a:solidFill>
                  <a:srgbClr val="B8560F"/>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600" b="1" dirty="0">
                <a:solidFill>
                  <a:srgbClr val="1F4E79"/>
                </a:solidFill>
                <a:latin typeface="Cambria" pitchFamily="34" charset="0"/>
                <a:ea typeface="Cambria" pitchFamily="34" charset="-122"/>
                <a:cs typeface="Cambria" pitchFamily="34" charset="-120"/>
              </a:rPr>
              <a:t>Takeaway: state-guided and externally enabled</a:t>
            </a:r>
            <a:endParaRPr lang="en-US" sz="2600" dirty="0"/>
          </a:p>
        </p:txBody>
      </p:sp>
      <p:sp>
        <p:nvSpPr>
          <p:cNvPr id="4" name="State-guided: the government led"/>
          <p:cNvSpPr/>
          <p:nvPr/>
        </p:nvSpPr>
        <p:spPr>
          <a:xfrm>
            <a:off x="457200" y="1371600"/>
            <a:ext cx="4023360" cy="2514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5" name="State-guided: the government ledHead"/>
          <p:cNvSpPr/>
          <p:nvPr/>
        </p:nvSpPr>
        <p:spPr>
          <a:xfrm>
            <a:off x="457200" y="1371600"/>
            <a:ext cx="4023360" cy="457200"/>
          </a:xfrm>
          <a:prstGeom prst="rect">
            <a:avLst/>
          </a:prstGeom>
          <a:solidFill>
            <a:srgbClr val="9CC9EC"/>
          </a:solidFill>
          <a:ln/>
        </p:spPr>
      </p:sp>
      <p:sp>
        <p:nvSpPr>
          <p:cNvPr id="6" name="Text 4"/>
          <p:cNvSpPr txBox="1"/>
          <p:nvPr/>
        </p:nvSpPr>
        <p:spPr>
          <a:xfrm>
            <a:off x="640080" y="1371600"/>
            <a:ext cx="3657600" cy="457200"/>
          </a:xfrm>
          <a:prstGeom prst="rect">
            <a:avLst/>
          </a:prstGeom>
          <a:noFill/>
          <a:ln/>
        </p:spPr>
        <p:txBody>
          <a:bodyPr wrap="square" lIns="0" tIns="0" rIns="0" bIns="0" rtlCol="0" anchor="ctr"/>
          <a:lstStyle/>
          <a:p>
            <a:pPr indent="0" marL="0">
              <a:buNone/>
            </a:pPr>
            <a:r>
              <a:rPr lang="en-US" sz="1500" b="1" dirty="0">
                <a:solidFill>
                  <a:srgbClr val="1F4E79"/>
                </a:solidFill>
                <a:latin typeface="Cambria" pitchFamily="34" charset="0"/>
                <a:ea typeface="Cambria" pitchFamily="34" charset="-122"/>
                <a:cs typeface="Cambria" pitchFamily="34" charset="-120"/>
              </a:rPr>
              <a:t>State-guided: the government led</a:t>
            </a:r>
            <a:endParaRPr lang="en-US" sz="1500" dirty="0"/>
          </a:p>
        </p:txBody>
      </p:sp>
      <p:sp>
        <p:nvSpPr>
          <p:cNvPr id="7" name="Text 5"/>
          <p:cNvSpPr txBox="1"/>
          <p:nvPr/>
        </p:nvSpPr>
        <p:spPr>
          <a:xfrm>
            <a:off x="640080" y="1920240"/>
            <a:ext cx="36576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rPr>
              <a:t>Hsinchu Science Park (1980): built and subsidised by the government</a:t>
            </a:r>
            <a:endParaRPr lang="en-US" sz="1300" dirty="0"/>
          </a:p>
          <a:p>
            <a:pPr marL="342900" indent="-342900">
              <a:spcAft>
                <a:spcPts val="500"/>
              </a:spcAft>
              <a:buSzPct val="100000"/>
              <a:buChar char="•"/>
            </a:pPr>
            <a:r>
              <a:rPr lang="en-US" sz="1300" dirty="0">
                <a:solidFill>
                  <a:srgbClr val="1F2933"/>
                </a:solidFill>
              </a:rPr>
              <a:t>ITRI research institute (1973): developed technology and spun off UMC and TSMC</a:t>
            </a:r>
            <a:endParaRPr lang="en-US" sz="1300" dirty="0"/>
          </a:p>
          <a:p>
            <a:pPr marL="342900" indent="-342900">
              <a:spcAft>
                <a:spcPts val="500"/>
              </a:spcAft>
              <a:buSzPct val="100000"/>
              <a:buChar char="•"/>
            </a:pPr>
            <a:r>
              <a:rPr lang="en-US" sz="1300" dirty="0">
                <a:solidFill>
                  <a:srgbClr val="1F2933"/>
                </a:solidFill>
              </a:rPr>
              <a:t>TSMC (1987): a government fund was its largest shareholder at the start</a:t>
            </a:r>
            <a:endParaRPr lang="en-US" sz="1300" dirty="0"/>
          </a:p>
          <a:p>
            <a:pPr marL="342900" indent="-342900">
              <a:spcAft>
                <a:spcPts val="500"/>
              </a:spcAft>
              <a:buSzPct val="100000"/>
              <a:buChar char="•"/>
            </a:pPr>
            <a:r>
              <a:rPr lang="en-US" sz="1300" dirty="0">
                <a:solidFill>
                  <a:srgbClr val="1F2933"/>
                </a:solidFill>
              </a:rPr>
              <a:t>Export zones, tax breaks and the 1970s Ten Major Construction projects</a:t>
            </a:r>
            <a:endParaRPr lang="en-US" sz="1300" dirty="0"/>
          </a:p>
        </p:txBody>
      </p:sp>
      <p:sp>
        <p:nvSpPr>
          <p:cNvPr id="8" name="Externally enabled: outside help and demand"/>
          <p:cNvSpPr/>
          <p:nvPr/>
        </p:nvSpPr>
        <p:spPr>
          <a:xfrm>
            <a:off x="4663440" y="1371600"/>
            <a:ext cx="4023360" cy="25146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9" name="Externally enabled: outside help and demandHead"/>
          <p:cNvSpPr/>
          <p:nvPr/>
        </p:nvSpPr>
        <p:spPr>
          <a:xfrm>
            <a:off x="4663440" y="1371600"/>
            <a:ext cx="4023360" cy="457200"/>
          </a:xfrm>
          <a:prstGeom prst="rect">
            <a:avLst/>
          </a:prstGeom>
          <a:solidFill>
            <a:srgbClr val="F8B878"/>
          </a:solidFill>
          <a:ln/>
        </p:spPr>
      </p:sp>
      <p:sp>
        <p:nvSpPr>
          <p:cNvPr id="10" name="Text 8"/>
          <p:cNvSpPr txBox="1"/>
          <p:nvPr/>
        </p:nvSpPr>
        <p:spPr>
          <a:xfrm>
            <a:off x="4846320" y="1371600"/>
            <a:ext cx="3657600" cy="457200"/>
          </a:xfrm>
          <a:prstGeom prst="rect">
            <a:avLst/>
          </a:prstGeom>
          <a:noFill/>
          <a:ln/>
        </p:spPr>
        <p:txBody>
          <a:bodyPr wrap="square" lIns="0" tIns="0" rIns="0" bIns="0" rtlCol="0" anchor="ctr"/>
          <a:lstStyle/>
          <a:p>
            <a:pPr indent="0" marL="0">
              <a:buNone/>
            </a:pPr>
            <a:r>
              <a:rPr lang="en-US" sz="1500" b="1" dirty="0">
                <a:solidFill>
                  <a:srgbClr val="1F4E79"/>
                </a:solidFill>
                <a:latin typeface="Cambria" pitchFamily="34" charset="0"/>
                <a:ea typeface="Cambria" pitchFamily="34" charset="-122"/>
                <a:cs typeface="Cambria" pitchFamily="34" charset="-120"/>
              </a:rPr>
              <a:t>Externally enabled: outside help and demand</a:t>
            </a:r>
            <a:endParaRPr lang="en-US" sz="1500" dirty="0"/>
          </a:p>
        </p:txBody>
      </p:sp>
      <p:sp>
        <p:nvSpPr>
          <p:cNvPr id="11" name="Text 9"/>
          <p:cNvSpPr txBox="1"/>
          <p:nvPr/>
        </p:nvSpPr>
        <p:spPr>
          <a:xfrm>
            <a:off x="4846320" y="1920240"/>
            <a:ext cx="36576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rPr>
              <a:t>US aid (1951–65) and open access to the US market</a:t>
            </a:r>
            <a:endParaRPr lang="en-US" sz="1300" dirty="0"/>
          </a:p>
          <a:p>
            <a:pPr marL="342900" indent="-342900">
              <a:spcAft>
                <a:spcPts val="500"/>
              </a:spcAft>
              <a:buSzPct val="100000"/>
              <a:buChar char="•"/>
            </a:pPr>
            <a:r>
              <a:rPr lang="en-US" sz="1300" dirty="0">
                <a:solidFill>
                  <a:srgbClr val="1F2933"/>
                </a:solidFill>
              </a:rPr>
              <a:t>Technology transfer: chip-making know-how licensed from US firm Radio Corporation of America (RCA) in 1976; Philips as TSMC partner</a:t>
            </a:r>
            <a:endParaRPr lang="en-US" sz="1300" dirty="0"/>
          </a:p>
          <a:p>
            <a:pPr marL="342900" indent="-342900">
              <a:spcAft>
                <a:spcPts val="500"/>
              </a:spcAft>
              <a:buSzPct val="100000"/>
              <a:buChar char="•"/>
            </a:pPr>
            <a:r>
              <a:rPr lang="en-US" sz="1300" dirty="0">
                <a:solidFill>
                  <a:srgbClr val="1F2933"/>
                </a:solidFill>
              </a:rPr>
              <a:t>Returnee engineers from Silicon Valley</a:t>
            </a:r>
            <a:endParaRPr lang="en-US" sz="1300" dirty="0"/>
          </a:p>
          <a:p>
            <a:pPr marL="342900" indent="-342900">
              <a:spcAft>
                <a:spcPts val="500"/>
              </a:spcAft>
              <a:buSzPct val="100000"/>
              <a:buChar char="•"/>
            </a:pPr>
            <a:r>
              <a:rPr lang="en-US" sz="1300" dirty="0">
                <a:solidFill>
                  <a:srgbClr val="1F2933"/>
                </a:solidFill>
              </a:rPr>
              <a:t>Japanese chip-making machines, silicon wafers and chemicals; worldwide demand for computers, phones and chips</a:t>
            </a:r>
            <a:endParaRPr lang="en-US" sz="1300" dirty="0"/>
          </a:p>
        </p:txBody>
      </p:sp>
      <p:sp>
        <p:nvSpPr>
          <p:cNvPr id="12" name="TakeawayBar"/>
          <p:cNvSpPr/>
          <p:nvPr/>
        </p:nvSpPr>
        <p:spPr>
          <a:xfrm>
            <a:off x="457200" y="4023360"/>
            <a:ext cx="8229600" cy="777240"/>
          </a:xfrm>
          <a:prstGeom prst="roundRect">
            <a:avLst>
              <a:gd name="adj" fmla="val 9412"/>
            </a:avLst>
          </a:prstGeom>
          <a:solidFill>
            <a:srgbClr val="FBD3A8"/>
          </a:solidFill>
          <a:ln/>
        </p:spPr>
      </p:sp>
      <p:sp>
        <p:nvSpPr>
          <p:cNvPr id="13" name="Text 11"/>
          <p:cNvSpPr txBox="1"/>
          <p:nvPr/>
        </p:nvSpPr>
        <p:spPr>
          <a:xfrm>
            <a:off x="640080" y="4023360"/>
            <a:ext cx="7863840" cy="777240"/>
          </a:xfrm>
          <a:prstGeom prst="rect">
            <a:avLst/>
          </a:prstGeom>
          <a:noFill/>
          <a:ln/>
        </p:spPr>
        <p:txBody>
          <a:bodyPr wrap="square" lIns="0" tIns="0" rIns="0" bIns="0" rtlCol="0" anchor="ctr"/>
          <a:lstStyle/>
          <a:p>
            <a:pPr indent="0" marL="0">
              <a:buNone/>
            </a:pPr>
            <a:r>
              <a:rPr lang="en-US" sz="1400" b="1" dirty="0">
                <a:solidFill>
                  <a:srgbClr val="B8560F"/>
                </a:solidFill>
              </a:rPr>
              <a:t>Then rooted locally: </a:t>
            </a:r>
            <a:pPr indent="0" marL="0">
              <a:buNone/>
            </a:pPr>
            <a:r>
              <a:rPr lang="en-US" sz="1400" dirty="0">
                <a:solidFill>
                  <a:srgbClr val="1F2933"/>
                </a:solidFill>
              </a:rPr>
              <a:t>family-run firms and clusters made it last. Next challenge: diversify beyond chips and spread growth beyond the core cities.</a:t>
            </a:r>
            <a:endParaRPr lang="en-US" sz="1400" dirty="0"/>
          </a:p>
        </p:txBody>
      </p:sp>
    </p:spTree>
  </p:cSld>
  <p:clrMapOvr>
    <a:masterClrMapping/>
  </p:clrMapOvr>
</p:sld>
</file>

<file path=ppt/theme/theme1.xml><?xml version="1.0" encoding="utf-8"?>
<a:theme xmlns:a="http://schemas.openxmlformats.org/drawingml/2006/main" name="Taiwan Economy">
  <a:themeElements>
    <a:clrScheme name="Taiwan Economy">
      <a:dk1>
        <a:srgbClr val="1F2933"/>
      </a:dk1>
      <a:lt1>
        <a:srgbClr val="FFFFFF"/>
      </a:lt1>
      <a:dk2>
        <a:srgbClr val="1F4E79"/>
      </a:dk2>
      <a:lt2>
        <a:srgbClr val="EAF3FB"/>
      </a:lt2>
      <a:accent1>
        <a:srgbClr val="3F86C4"/>
      </a:accent1>
      <a:accent2>
        <a:srgbClr val="F4A261"/>
      </a:accent2>
      <a:accent3>
        <a:srgbClr val="2E8B6E"/>
      </a:accent3>
      <a:accent4>
        <a:srgbClr val="B5483A"/>
      </a:accent4>
      <a:accent5>
        <a:srgbClr val="CADCFC"/>
      </a:accent5>
      <a:accent6>
        <a:srgbClr val="5B6B7A"/>
      </a:accent6>
      <a:hlink>
        <a:srgbClr val="3F86C4"/>
      </a:hlink>
      <a:folHlink>
        <a:srgbClr val="5B6B7A"/>
      </a:folHlink>
    </a:clrScheme>
    <a:fontScheme name="Taiwan Econom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Taiwan's Economy in a Global Context</dc:title>
  <dc:subject>PptxGenJS Presentation</dc:subject>
  <dc:creator>PptxGenJS</dc:creator>
  <cp:lastModifiedBy>PptxGenJS</cp:lastModifiedBy>
  <cp:revision>1</cp:revision>
  <dcterms:created xsi:type="dcterms:W3CDTF">2026-10-11T14:29:48Z</dcterms:created>
  <dcterms:modified xsi:type="dcterms:W3CDTF">2026-10-11T14:29:48Z</dcterms:modified>
</cp:coreProperties>
</file>